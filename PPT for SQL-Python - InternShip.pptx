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56" r:id="rId2"/>
    <p:sldId id="278" r:id="rId3"/>
    <p:sldId id="262" r:id="rId4"/>
    <p:sldId id="257" r:id="rId5"/>
    <p:sldId id="258" r:id="rId6"/>
    <p:sldId id="259" r:id="rId7"/>
    <p:sldId id="260" r:id="rId8"/>
    <p:sldId id="261" r:id="rId9"/>
    <p:sldId id="263" r:id="rId10"/>
    <p:sldId id="264" r:id="rId11"/>
    <p:sldId id="266" r:id="rId12"/>
    <p:sldId id="265" r:id="rId13"/>
    <p:sldId id="268" r:id="rId14"/>
    <p:sldId id="267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3447" autoAdjust="0"/>
  </p:normalViewPr>
  <p:slideViewPr>
    <p:cSldViewPr snapToGrid="0">
      <p:cViewPr varScale="1">
        <p:scale>
          <a:sx n="51" d="100"/>
          <a:sy n="51" d="100"/>
        </p:scale>
        <p:origin x="1256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AB1157-5A6B-443F-A042-B5026BEBFD1B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7A6469-F986-47C5-B4AC-E8437BE6E3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49362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7A6469-F986-47C5-B4AC-E8437BE6E32C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51135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54088E-B54E-9437-5E2D-7D28ECD10E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431848-EBAA-3E16-2A4B-22388E1D8F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F6F54F-C371-8254-2590-22000E16A8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4CD24-3A40-4A6A-81FA-12EFDF05CACD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4FA7A6-85E3-9E53-43C3-346CA867BB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335767-7DC8-18D8-B04E-FABEC7BEB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95E21-7045-44ED-A45B-306A508B9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25169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17E65C-9F12-5F3D-11BD-1F1D49E453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5E3F36-C309-139B-D9B3-E108E85726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7618C2-A35C-4673-885C-69D39C98C0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4CD24-3A40-4A6A-81FA-12EFDF05CACD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ED2CB5-4CC9-F42B-D360-606720C3DE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934586-26D5-D881-002A-B060FE2431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95E21-7045-44ED-A45B-306A508B9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49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27A390-26C3-454B-42D6-0F8B94BC38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5EAD01-E539-C43C-0CD3-333E24DDD4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47D181-08F3-E4A6-8CC9-DA7198910B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4CD24-3A40-4A6A-81FA-12EFDF05CACD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01289B-BF1F-1B8A-F1FF-16B89B805B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5FBD01-0BC0-CD91-BBE6-B1E172AD6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95E21-7045-44ED-A45B-306A508B9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39107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3D2136-C7EE-0CF7-5988-EE60045C99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9FB333-2083-8F24-B465-10A13039DF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41E94B-43EC-6DA9-D542-7B7B3D861A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71A83E-0EA9-2BF2-1FDD-8E64B6C383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4CD24-3A40-4A6A-81FA-12EFDF05CACD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FCFEC6-B502-3868-B7DB-180F9A21E2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3AA81A-9F5E-0CE0-CC7A-3146FFBCA0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95E21-7045-44ED-A45B-306A508B9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0334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F1116F-CACE-5735-2ADC-7059E0CFC5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F1D40E-B185-E43B-3779-6432F906A4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82CB59-F439-CF76-4A40-26973D3DDC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15E20EC-DB42-BFF8-533A-35C1859336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57268DD-D04D-E557-D5F5-DAF76427EB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444789-5691-71F8-366A-B3A29ECF70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4CD24-3A40-4A6A-81FA-12EFDF05CACD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AB359D-98AE-6E24-DBDC-E72F76214C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180073A-D794-4A33-D95B-2C55FC892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95E21-7045-44ED-A45B-306A508B9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99134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1D4C97-43E6-D9C8-A5FA-4BE5656794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095A7D-FECD-7AD4-A77C-7B7D9D2E3C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4CD24-3A40-4A6A-81FA-12EFDF05CACD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71DF0A-88A4-E493-4EE7-7C3D65E34E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1F956F-91A0-76A6-A7F8-3BCA189F1E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95E21-7045-44ED-A45B-306A508B9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96736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0253AD9-7134-77B4-F65C-5CA877687B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4CD24-3A40-4A6A-81FA-12EFDF05CACD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C212AB3-BD19-7D91-FFD9-6B8DC173E6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581D5D-1EB7-1696-8D2A-69146CD65B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95E21-7045-44ED-A45B-306A508B9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4653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BF14B8-7721-53CE-A499-5FC4D8771A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D55512-1A99-0F28-8ABE-81C458ECEB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064F71-AB9A-8096-1EE3-82845E62D0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631FFC-A26E-B879-7860-35172A9236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4CD24-3A40-4A6A-81FA-12EFDF05CACD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EB0701-30AC-4AC6-9792-97118F45DD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AE5A66-C533-3DC9-DFCB-00E8B42CC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95E21-7045-44ED-A45B-306A508B9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56559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E6BE8D-364B-5C08-7FC3-4268425B1B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4239A07-CC56-8FD1-9994-0929011384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76A81B-C097-80BC-961E-5C9FE28654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3C8B98-C2D0-25FF-B7EE-13AC344DEC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4CD24-3A40-4A6A-81FA-12EFDF05CACD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DA2250-5D5A-AC6D-F440-83D005BC07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2AA359-2DF6-843E-5188-232CA4F1A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95E21-7045-44ED-A45B-306A508B9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83334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59EB79-5892-3FF9-663C-3714F16D10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638248-0F14-EB1D-E334-66CFC37781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8A8FE5-6C2C-6812-01AD-4974298014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4CD24-3A40-4A6A-81FA-12EFDF05CACD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D5B85B-9CD0-0552-46E7-1451F7C863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79FE03-CDE0-88B2-C42E-5C520AEA53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95E21-7045-44ED-A45B-306A508B9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09005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3E18466-572A-90E1-C729-3D16EC34896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7AE861-9C65-3A4C-1A35-2AB48B7B38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409D92-BE9C-39E0-3AB8-BD0CE9050C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4CD24-3A40-4A6A-81FA-12EFDF05CACD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707CA0-C391-A33B-5732-6702E2EC89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276450-5D63-D2B0-A6F0-33D6EE81C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95E21-7045-44ED-A45B-306A508B9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7264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307C87C-3F42-B4F6-6B08-6E54F2CF5C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54EBBD-7A19-C441-50B3-77737B58B7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2F6E10-2B97-D1B4-9443-8152B1B632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B24CD24-3A40-4A6A-81FA-12EFDF05CACD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2580D0-A661-222C-FD67-6F2745847B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E84FE1-5E4E-386B-4BBD-A83896FFD4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B695E21-7045-44ED-A45B-306A508B9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4146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F67A70-CF07-46D6-7964-B81D26726D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7051"/>
            <a:ext cx="9144000" cy="2945219"/>
          </a:xfrm>
        </p:spPr>
        <p:txBody>
          <a:bodyPr>
            <a:normAutofit fontScale="90000"/>
          </a:bodyPr>
          <a:lstStyle/>
          <a:p>
            <a:br>
              <a:rPr lang="en-US" sz="5400" dirty="0"/>
            </a:br>
            <a:br>
              <a:rPr lang="en-US" sz="5400" dirty="0"/>
            </a:br>
            <a:br>
              <a:rPr lang="en-US" sz="5400" dirty="0"/>
            </a:br>
            <a:br>
              <a:rPr lang="en-US" sz="5400" dirty="0"/>
            </a:br>
            <a:br>
              <a:rPr lang="en-US" sz="5400" dirty="0"/>
            </a:br>
            <a:r>
              <a:rPr lang="en-US" sz="8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E-commerce</a:t>
            </a:r>
            <a:r>
              <a:rPr lang="en-US" sz="5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br>
              <a:rPr lang="en-US" sz="5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5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Sales Performance Analysis using PYTHON and SQL</a:t>
            </a:r>
          </a:p>
        </p:txBody>
      </p:sp>
    </p:spTree>
    <p:extLst>
      <p:ext uri="{BB962C8B-B14F-4D97-AF65-F5344CB8AC3E}">
        <p14:creationId xmlns:p14="http://schemas.microsoft.com/office/powerpoint/2010/main" val="9022577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CB3951-E152-4E63-F1A2-5F29652B65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7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FE90F4-B972-A282-4C87-4B3BB580D0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0200"/>
            <a:ext cx="10515600" cy="3918857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endParaRPr lang="en-US" sz="2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Our company is a rapidly growing e-commerce platform serving customers across Brazil, with a presence in over 4,000 cities and achieving 20% year-over-year growth in 2018. We offer a wide range of products—from Health &amp; Beauty to Electronics—connecting customers with sellers through a user-friendly, installment-friendly shopping experience.</a:t>
            </a:r>
          </a:p>
          <a:p>
            <a:pPr marL="0" indent="0">
              <a:buNone/>
            </a:pPr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While we've successfully expanded our reach and built a strong customer acquisition engine, our next phase of growth is focused on deepening customer relationships and diversifying our operations. By investing in loyalty programs, geographic expansion beyond São Paulo, and a broader, more inclusive seller network, we aim to transform one-time buyers into repeat customers and create a more resilient, sustainable business model.</a:t>
            </a:r>
          </a:p>
          <a:p>
            <a:pPr marL="0" indent="0">
              <a:buNone/>
            </a:pPr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With strong market potential and a clear roadmap, we are positioned to become a leading player in Brazil’s e-commerce ecosystem.</a:t>
            </a:r>
          </a:p>
        </p:txBody>
      </p:sp>
    </p:spTree>
    <p:extLst>
      <p:ext uri="{BB962C8B-B14F-4D97-AF65-F5344CB8AC3E}">
        <p14:creationId xmlns:p14="http://schemas.microsoft.com/office/powerpoint/2010/main" val="2261817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5A4072-96EE-1DEA-472A-D39FDB22DB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4286" y="2242457"/>
            <a:ext cx="10809513" cy="1578428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8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BASIC PROBLEMS</a:t>
            </a:r>
          </a:p>
        </p:txBody>
      </p:sp>
    </p:spTree>
    <p:extLst>
      <p:ext uri="{BB962C8B-B14F-4D97-AF65-F5344CB8AC3E}">
        <p14:creationId xmlns:p14="http://schemas.microsoft.com/office/powerpoint/2010/main" val="10491793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99ED5833-B85B-4103-8A3B-CAB0308E6C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45B6719-84A5-42BD-FD85-FC8443A24C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5001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400" kern="1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 List all unique cities where customers are located.</a:t>
            </a:r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C0A38D3-AE83-8157-FA9A-AF99140DEB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059" y="1780268"/>
            <a:ext cx="6094112" cy="4523773"/>
          </a:xfrm>
          <a:prstGeom prst="rect">
            <a:avLst/>
          </a:prstGeom>
        </p:spPr>
      </p:pic>
      <p:pic>
        <p:nvPicPr>
          <p:cNvPr id="5" name="Content Placeholder 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9D0F415D-5AA7-FF9E-8EC1-B326DF19EB7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6371" y="2481943"/>
            <a:ext cx="5664395" cy="3069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64159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33A14B-61B6-F656-6614-F4C6AB04C0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Count the number of orders placed in 2017. </a:t>
            </a:r>
          </a:p>
        </p:txBody>
      </p:sp>
      <p:pic>
        <p:nvPicPr>
          <p:cNvPr id="5" name="Content Placeholder 4" descr="A computer code with red and green text&#10;&#10;AI-generated content may be incorrect.">
            <a:extLst>
              <a:ext uri="{FF2B5EF4-FFF2-40B4-BE49-F238E27FC236}">
                <a16:creationId xmlns:a16="http://schemas.microsoft.com/office/drawing/2014/main" id="{AC7A21CD-2983-8AF0-E75C-288A1F8202A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772" y="1729740"/>
            <a:ext cx="11081658" cy="1699260"/>
          </a:xfrm>
        </p:spPr>
      </p:pic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AC1AF18-6DD3-9AC0-E8FE-4FC6F8F266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029" y="3877446"/>
            <a:ext cx="11397342" cy="2087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37863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9C1A6E-1838-CD3A-CB6A-18B2BD4BBF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 Find the total sales per category.</a:t>
            </a: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71838C0-28B0-AB1C-BDE6-9DB378379D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317" y="1597025"/>
            <a:ext cx="5533454" cy="4351338"/>
          </a:xfrm>
        </p:spPr>
      </p:pic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76C1605-F82F-1A23-1B51-0ABD1404DF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7399" y="1597025"/>
            <a:ext cx="5251813" cy="4244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63750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8703BE-75EC-D082-8F3E-7C6BDC77A7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4. Calculate the percentage of orders that were paid in installments.</a:t>
            </a:r>
          </a:p>
        </p:txBody>
      </p:sp>
      <p:pic>
        <p:nvPicPr>
          <p:cNvPr id="5" name="Content Placeholder 4" descr="A screen shot of a computer code&#10;&#10;AI-generated content may be incorrect.">
            <a:extLst>
              <a:ext uri="{FF2B5EF4-FFF2-40B4-BE49-F238E27FC236}">
                <a16:creationId xmlns:a16="http://schemas.microsoft.com/office/drawing/2014/main" id="{76CF1B5A-386F-0587-F927-F2615AB3436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310" y="1690688"/>
            <a:ext cx="8100061" cy="1738312"/>
          </a:xfrm>
        </p:spPr>
      </p:pic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C7D4BE2-3561-2234-3825-52023C96E2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7114" y="3429000"/>
            <a:ext cx="7064829" cy="3345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58743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109421-3C45-9B25-CC2E-9738C321AD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5. Count the number of customers from each state. </a:t>
            </a: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0E7C2E9-6AD7-0A5F-8F2F-96C84DE1371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629" y="1586140"/>
            <a:ext cx="5513973" cy="4988831"/>
          </a:xfrm>
        </p:spPr>
      </p:pic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12F2CC6-5D7B-358B-5506-C1F4B7DDA3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408612"/>
            <a:ext cx="5923462" cy="4998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80939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59F45D-03A4-4828-0B24-C68A3A17ED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6314" y="2427514"/>
            <a:ext cx="11636829" cy="1208315"/>
          </a:xfrm>
        </p:spPr>
        <p:txBody>
          <a:bodyPr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8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INTERMEDIATE </a:t>
            </a:r>
            <a:r>
              <a:rPr lang="en-US" sz="9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PROBLEMS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73210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394ACE-7C4E-E9B4-1F75-CFD1138CDC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 Calculate the number of orders per month in 2018.</a:t>
            </a: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6FB5B2B-CB60-BC16-A7E1-9E3838357FFB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114" y="1435419"/>
            <a:ext cx="5649686" cy="4741544"/>
          </a:xfrm>
        </p:spPr>
      </p:pic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361D32A1-685A-E6B3-A10C-CB64ACD2F19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1" name="Picture 1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775E9E9-876D-C5C2-A84F-21155CF7F7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9800" y="1435418"/>
            <a:ext cx="4805499" cy="4465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87044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7A495F-D7F8-F075-DED7-A03A08932D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76200"/>
            <a:ext cx="10515600" cy="947057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Find the average number of products per order. grouped by customer city. </a:t>
            </a:r>
          </a:p>
        </p:txBody>
      </p:sp>
      <p:sp>
        <p:nvSpPr>
          <p:cNvPr id="9" name="Subtitle 8">
            <a:extLst>
              <a:ext uri="{FF2B5EF4-FFF2-40B4-BE49-F238E27FC236}">
                <a16:creationId xmlns:a16="http://schemas.microsoft.com/office/drawing/2014/main" id="{0563DE43-A6E0-E5D9-4BEC-9F87488A97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023258"/>
            <a:ext cx="5157787" cy="3948378"/>
          </a:xfrm>
        </p:spPr>
        <p:txBody>
          <a:bodyPr>
            <a:normAutofit fontScale="47500" lnSpcReduction="20000"/>
          </a:bodyPr>
          <a:lstStyle/>
          <a:p>
            <a:pPr algn="l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Python code:</a:t>
            </a:r>
          </a:p>
          <a:p>
            <a:pPr algn="l"/>
            <a:r>
              <a:rPr lang="en-US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customers_df</a:t>
            </a:r>
            <a:r>
              <a:rPr lang="en-US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</a:t>
            </a:r>
            <a:r>
              <a:rPr lang="en-US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pd.read_csv</a:t>
            </a:r>
            <a:r>
              <a:rPr lang="en-US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('Customers.csv')</a:t>
            </a:r>
          </a:p>
          <a:p>
            <a:pPr algn="l"/>
            <a:r>
              <a:rPr lang="en-US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orders_df</a:t>
            </a:r>
            <a:r>
              <a:rPr lang="en-US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</a:t>
            </a:r>
            <a:r>
              <a:rPr lang="en-US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pd.read_csv</a:t>
            </a:r>
            <a:r>
              <a:rPr lang="en-US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('orders.csv')</a:t>
            </a:r>
          </a:p>
          <a:p>
            <a:pPr algn="l"/>
            <a:r>
              <a:rPr lang="en-US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order_items_df</a:t>
            </a:r>
            <a:r>
              <a:rPr lang="en-US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</a:t>
            </a:r>
            <a:r>
              <a:rPr lang="en-US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pd.read_csv</a:t>
            </a:r>
            <a:r>
              <a:rPr lang="en-US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('order_items.csv')</a:t>
            </a:r>
          </a:p>
          <a:p>
            <a:pPr algn="l"/>
            <a:r>
              <a:rPr lang="en-US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orders_with_customers</a:t>
            </a:r>
            <a:r>
              <a:rPr lang="en-US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</a:t>
            </a:r>
            <a:r>
              <a:rPr lang="en-US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pd.merge</a:t>
            </a:r>
            <a:r>
              <a:rPr lang="en-US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orders_df</a:t>
            </a:r>
            <a:r>
              <a:rPr lang="en-US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customers_df</a:t>
            </a:r>
            <a:r>
              <a:rPr lang="en-US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on='</a:t>
            </a:r>
            <a:r>
              <a:rPr lang="en-US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customer_id</a:t>
            </a:r>
            <a:r>
              <a:rPr lang="en-US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')</a:t>
            </a:r>
          </a:p>
          <a:p>
            <a:pPr algn="l"/>
            <a:r>
              <a:rPr lang="en-US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merged_df</a:t>
            </a:r>
            <a:r>
              <a:rPr lang="en-US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</a:t>
            </a:r>
            <a:r>
              <a:rPr lang="en-US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pd.merge</a:t>
            </a:r>
            <a:r>
              <a:rPr lang="en-US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orders_with_customers</a:t>
            </a:r>
            <a:r>
              <a:rPr lang="en-US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order_items_df</a:t>
            </a:r>
            <a:r>
              <a:rPr lang="en-US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on='</a:t>
            </a:r>
            <a:r>
              <a:rPr lang="en-US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order_id</a:t>
            </a:r>
            <a:r>
              <a:rPr lang="en-US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')</a:t>
            </a:r>
          </a:p>
          <a:p>
            <a:pPr algn="l"/>
            <a:r>
              <a:rPr lang="en-US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products_per_order</a:t>
            </a:r>
            <a:r>
              <a:rPr lang="en-US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</a:t>
            </a:r>
            <a:r>
              <a:rPr lang="en-US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merged_df.groupby</a:t>
            </a:r>
            <a:r>
              <a:rPr lang="en-US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(['</a:t>
            </a:r>
            <a:r>
              <a:rPr lang="en-US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customer_city</a:t>
            </a:r>
            <a:r>
              <a:rPr lang="en-US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', '</a:t>
            </a:r>
            <a:r>
              <a:rPr lang="en-US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order_id</a:t>
            </a:r>
            <a:r>
              <a:rPr lang="en-US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']).size().</a:t>
            </a:r>
            <a:r>
              <a:rPr lang="en-US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reset_index</a:t>
            </a:r>
            <a:r>
              <a:rPr lang="en-US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(name='</a:t>
            </a:r>
            <a:r>
              <a:rPr lang="en-US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number_of_products</a:t>
            </a:r>
            <a:r>
              <a:rPr lang="en-US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')</a:t>
            </a:r>
          </a:p>
          <a:p>
            <a:pPr algn="l"/>
            <a:r>
              <a:rPr lang="en-US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average_products_per_city</a:t>
            </a:r>
            <a:r>
              <a:rPr lang="en-US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</a:t>
            </a:r>
            <a:r>
              <a:rPr lang="en-US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products_per_order.groupby</a:t>
            </a:r>
            <a:r>
              <a:rPr lang="en-US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('</a:t>
            </a:r>
            <a:r>
              <a:rPr lang="en-US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customer_city</a:t>
            </a:r>
            <a:r>
              <a:rPr lang="en-US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')['</a:t>
            </a:r>
            <a:r>
              <a:rPr lang="en-US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number_of_products</a:t>
            </a:r>
            <a:r>
              <a:rPr lang="en-US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'].mean().</a:t>
            </a:r>
            <a:r>
              <a:rPr lang="en-US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reset_index</a:t>
            </a:r>
            <a:r>
              <a:rPr lang="en-US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()</a:t>
            </a:r>
          </a:p>
          <a:p>
            <a:pPr algn="l"/>
            <a:r>
              <a:rPr lang="en-US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average_products_per_city.rename</a:t>
            </a:r>
            <a:r>
              <a:rPr lang="en-US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(columns={'</a:t>
            </a:r>
            <a:r>
              <a:rPr lang="en-US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number_of_products</a:t>
            </a:r>
            <a:r>
              <a:rPr lang="en-US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': '</a:t>
            </a:r>
            <a:r>
              <a:rPr lang="en-US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average_products_per_order</a:t>
            </a:r>
            <a:r>
              <a:rPr lang="en-US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'}, </a:t>
            </a:r>
            <a:r>
              <a:rPr lang="en-US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inplace</a:t>
            </a:r>
            <a:r>
              <a:rPr lang="en-US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=True)</a:t>
            </a:r>
          </a:p>
          <a:p>
            <a:pPr algn="l"/>
            <a:r>
              <a:rPr lang="en-US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average_products_per_city_sorted</a:t>
            </a:r>
            <a:r>
              <a:rPr lang="en-US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</a:t>
            </a:r>
            <a:r>
              <a:rPr lang="en-US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average_products_per_city.sort_values</a:t>
            </a:r>
            <a:r>
              <a:rPr lang="en-US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(by='</a:t>
            </a:r>
            <a:r>
              <a:rPr lang="en-US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average_products_per_order</a:t>
            </a:r>
            <a:r>
              <a:rPr lang="en-US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', ascending=False)</a:t>
            </a:r>
          </a:p>
          <a:p>
            <a:pPr algn="l"/>
            <a:r>
              <a:rPr lang="en-US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print("Average number of products per order, grouped by customer city:")</a:t>
            </a:r>
          </a:p>
          <a:p>
            <a:pPr algn="l"/>
            <a:r>
              <a:rPr lang="en-US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print(</a:t>
            </a:r>
            <a:r>
              <a:rPr lang="en-US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average_products_per_city_sorted</a:t>
            </a:r>
            <a:r>
              <a:rPr lang="en-US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algn="l"/>
            <a:endParaRPr lang="en-US" dirty="0"/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06CC4AC-1A9D-EE4D-34F0-4DA4483D257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788" y="4971636"/>
            <a:ext cx="4483326" cy="1662325"/>
          </a:xfrm>
        </p:spPr>
      </p:pic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14147C0-8294-D341-C288-B9A1C949DD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94427" y="4365171"/>
            <a:ext cx="5160961" cy="2188029"/>
          </a:xfrm>
        </p:spPr>
        <p:txBody>
          <a:bodyPr>
            <a:noAutofit/>
          </a:bodyPr>
          <a:lstStyle/>
          <a:p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SQL Code :</a:t>
            </a:r>
          </a:p>
          <a:p>
            <a:r>
              <a:rPr lang="en-US" sz="11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WITH </a:t>
            </a:r>
            <a:r>
              <a:rPr lang="en-US" sz="11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ProductsPerOrder</a:t>
            </a:r>
            <a:r>
              <a:rPr lang="en-US" sz="11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AS ( SELECT </a:t>
            </a:r>
            <a:r>
              <a:rPr lang="en-US" sz="11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order_id</a:t>
            </a:r>
            <a:r>
              <a:rPr lang="en-US" sz="11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COUNT(</a:t>
            </a:r>
            <a:r>
              <a:rPr lang="en-US" sz="11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product_id</a:t>
            </a:r>
            <a:r>
              <a:rPr lang="en-US" sz="11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AS </a:t>
            </a:r>
            <a:r>
              <a:rPr lang="en-US" sz="11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product_count</a:t>
            </a:r>
            <a:endParaRPr lang="en-US" sz="1100" b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1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FROM </a:t>
            </a:r>
            <a:r>
              <a:rPr lang="en-US" sz="11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order_items</a:t>
            </a:r>
            <a:r>
              <a:rPr lang="en-US" sz="11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GROUP BY </a:t>
            </a:r>
            <a:r>
              <a:rPr lang="en-US" sz="11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order_id</a:t>
            </a:r>
            <a:r>
              <a:rPr lang="en-US" sz="11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) SELECT T3.customer_city,</a:t>
            </a:r>
          </a:p>
          <a:p>
            <a:r>
              <a:rPr lang="en-US" sz="11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AVG(T1.product_count) AS </a:t>
            </a:r>
            <a:r>
              <a:rPr lang="en-US" sz="11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avg_products_per_order</a:t>
            </a:r>
            <a:r>
              <a:rPr lang="en-US" sz="11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FROM </a:t>
            </a:r>
            <a:r>
              <a:rPr lang="en-US" sz="11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ProductsPerOrder</a:t>
            </a:r>
            <a:r>
              <a:rPr lang="en-US" sz="11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AS T1</a:t>
            </a:r>
          </a:p>
          <a:p>
            <a:r>
              <a:rPr lang="en-US" sz="11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JOIN orders AS T2 ON T1.order_id = T2.order_id JOIN Customers AS T3 ON</a:t>
            </a:r>
          </a:p>
          <a:p>
            <a:r>
              <a:rPr lang="en-US" sz="11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T2.customer_id = T3.customer_id GROUP BY T3.customer_city ORDER BY</a:t>
            </a:r>
          </a:p>
          <a:p>
            <a:r>
              <a:rPr lang="en-US" sz="11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1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avg_products_per_order</a:t>
            </a:r>
            <a:r>
              <a:rPr lang="en-US" sz="11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DESC; </a:t>
            </a:r>
          </a:p>
        </p:txBody>
      </p:sp>
      <p:pic>
        <p:nvPicPr>
          <p:cNvPr id="8" name="Content Placeholder 7" descr="A screenshot of a screenshot of a data&#10;&#10;AI-generated content may be incorrect.">
            <a:extLst>
              <a:ext uri="{FF2B5EF4-FFF2-40B4-BE49-F238E27FC236}">
                <a16:creationId xmlns:a16="http://schemas.microsoft.com/office/drawing/2014/main" id="{9D2D1A96-ADC6-C8C9-D6D9-990090CCA611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1057" y="1023257"/>
            <a:ext cx="4822372" cy="3197866"/>
          </a:xfrm>
        </p:spPr>
      </p:pic>
    </p:spTree>
    <p:extLst>
      <p:ext uri="{BB962C8B-B14F-4D97-AF65-F5344CB8AC3E}">
        <p14:creationId xmlns:p14="http://schemas.microsoft.com/office/powerpoint/2010/main" val="7020152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F81B2D-88F2-F425-62B2-5E902CE8F3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 Calculate the percentage of total revenue contributed by each product category. 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055D0B85-0234-5A4B-57D6-64DA88AA7B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143001"/>
            <a:ext cx="5180012" cy="3145970"/>
          </a:xfrm>
        </p:spPr>
        <p:txBody>
          <a:bodyPr>
            <a:normAutofit fontScale="40000" lnSpcReduction="20000"/>
          </a:bodyPr>
          <a:lstStyle/>
          <a:p>
            <a:endParaRPr lang="en-US" b="0" dirty="0"/>
          </a:p>
          <a:p>
            <a:endParaRPr lang="en-US" dirty="0"/>
          </a:p>
          <a:p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Python code :</a:t>
            </a:r>
          </a:p>
          <a:p>
            <a:r>
              <a:rPr lang="en-US" sz="28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order_items_df</a:t>
            </a:r>
            <a:r>
              <a:rPr lang="en-US" sz="28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</a:t>
            </a:r>
            <a:r>
              <a:rPr lang="en-US" sz="28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pd.read_csv</a:t>
            </a:r>
            <a:r>
              <a:rPr lang="en-US" sz="28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('order_items.csv')</a:t>
            </a:r>
          </a:p>
          <a:p>
            <a:r>
              <a:rPr lang="en-US" sz="28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products_df</a:t>
            </a:r>
            <a:r>
              <a:rPr lang="en-US" sz="28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</a:t>
            </a:r>
            <a:r>
              <a:rPr lang="en-US" sz="28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pd.read_csv</a:t>
            </a:r>
            <a:r>
              <a:rPr lang="en-US" sz="28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('products.csv')</a:t>
            </a:r>
          </a:p>
          <a:p>
            <a:r>
              <a:rPr lang="en-US" sz="28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merged_df</a:t>
            </a:r>
            <a:r>
              <a:rPr lang="en-US" sz="28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</a:t>
            </a:r>
            <a:r>
              <a:rPr lang="en-US" sz="28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pd.merge</a:t>
            </a:r>
            <a:r>
              <a:rPr lang="en-US" sz="28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sz="28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order_items_df</a:t>
            </a:r>
            <a:r>
              <a:rPr lang="en-US" sz="28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28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products_df</a:t>
            </a:r>
            <a:r>
              <a:rPr lang="en-US" sz="28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on='</a:t>
            </a:r>
            <a:r>
              <a:rPr lang="en-US" sz="28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product_id</a:t>
            </a:r>
            <a:r>
              <a:rPr lang="en-US" sz="28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')</a:t>
            </a:r>
          </a:p>
          <a:p>
            <a:r>
              <a:rPr lang="en-US" sz="28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total_revenue</a:t>
            </a:r>
            <a:r>
              <a:rPr lang="en-US" sz="28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</a:t>
            </a:r>
            <a:r>
              <a:rPr lang="en-US" sz="28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merged_df</a:t>
            </a:r>
            <a:r>
              <a:rPr lang="en-US" sz="28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['price'].sum()</a:t>
            </a:r>
          </a:p>
          <a:p>
            <a:r>
              <a:rPr lang="en-US" sz="28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revenue_per_category</a:t>
            </a:r>
            <a:r>
              <a:rPr lang="en-US" sz="28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</a:t>
            </a:r>
            <a:r>
              <a:rPr lang="en-US" sz="28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merged_df.groupby</a:t>
            </a:r>
            <a:r>
              <a:rPr lang="en-US" sz="28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('product category')['price'].sum().</a:t>
            </a:r>
            <a:r>
              <a:rPr lang="en-US" sz="28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reset_index</a:t>
            </a:r>
            <a:r>
              <a:rPr lang="en-US" sz="28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()</a:t>
            </a:r>
          </a:p>
          <a:p>
            <a:r>
              <a:rPr lang="en-US" sz="28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revenue_per_category</a:t>
            </a:r>
            <a:r>
              <a:rPr lang="en-US" sz="28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['percentage'] = (</a:t>
            </a:r>
            <a:r>
              <a:rPr lang="en-US" sz="28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revenue_per_category</a:t>
            </a:r>
            <a:r>
              <a:rPr lang="en-US" sz="28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['price'] / </a:t>
            </a:r>
            <a:r>
              <a:rPr lang="en-US" sz="28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total_revenue</a:t>
            </a:r>
            <a:r>
              <a:rPr lang="en-US" sz="28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* 100</a:t>
            </a:r>
          </a:p>
          <a:p>
            <a:r>
              <a:rPr lang="en-US" sz="28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revenue_percentage_sorted</a:t>
            </a:r>
            <a:r>
              <a:rPr lang="en-US" sz="28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</a:t>
            </a:r>
            <a:r>
              <a:rPr lang="en-US" sz="28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revenue_per_category.sort_values</a:t>
            </a:r>
            <a:r>
              <a:rPr lang="en-US" sz="28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(by='percentage', ascending=False)</a:t>
            </a:r>
          </a:p>
          <a:p>
            <a:r>
              <a:rPr lang="en-US" sz="28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print(</a:t>
            </a:r>
            <a:r>
              <a:rPr lang="en-US" sz="28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revenue_percentage_sorted</a:t>
            </a:r>
            <a:r>
              <a:rPr lang="en-US" sz="28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endParaRPr lang="en-US" sz="2800" b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Content Placeholder 4" descr="A close-up of a list of items&#10;&#10;AI-generated content may be incorrect.">
            <a:extLst>
              <a:ext uri="{FF2B5EF4-FFF2-40B4-BE49-F238E27FC236}">
                <a16:creationId xmlns:a16="http://schemas.microsoft.com/office/drawing/2014/main" id="{F9730E03-86BC-D767-148A-642C0903147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390" y="4191001"/>
            <a:ext cx="4754880" cy="2545080"/>
          </a:xfrm>
        </p:spPr>
      </p:pic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06690A5-139C-9CF4-F238-E5F3FCE458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2"/>
            <a:ext cx="5183188" cy="1856695"/>
          </a:xfrm>
        </p:spPr>
        <p:txBody>
          <a:bodyPr>
            <a:normAutofit fontScale="40000" lnSpcReduction="20000"/>
          </a:bodyPr>
          <a:lstStyle/>
          <a:p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SQL code:</a:t>
            </a:r>
          </a:p>
          <a:p>
            <a:r>
              <a:rPr lang="en-US" sz="28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category. WITH </a:t>
            </a:r>
            <a:r>
              <a:rPr lang="en-US" sz="28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CategoryRevenue</a:t>
            </a:r>
            <a:r>
              <a:rPr lang="en-US" sz="28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AS ( SELECT T1.product_category, SUM(T2.price) AS</a:t>
            </a:r>
          </a:p>
          <a:p>
            <a:r>
              <a:rPr lang="en-US" sz="28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revenue FROM products AS T1 JOIN </a:t>
            </a:r>
            <a:r>
              <a:rPr lang="en-US" sz="28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order_items</a:t>
            </a:r>
            <a:r>
              <a:rPr lang="en-US" sz="28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AS T2 ON T1.product_id =</a:t>
            </a:r>
          </a:p>
          <a:p>
            <a:r>
              <a:rPr lang="en-US" sz="28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T2.product_id GROUP BY T1.product_category ) SELECT </a:t>
            </a:r>
            <a:r>
              <a:rPr lang="en-US" sz="28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product_category</a:t>
            </a:r>
            <a:r>
              <a:rPr lang="en-US" sz="28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(revenue *</a:t>
            </a:r>
          </a:p>
          <a:p>
            <a:r>
              <a:rPr lang="en-US" sz="28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100.0) / ( SELECT SUM(revenue) FROM </a:t>
            </a:r>
            <a:r>
              <a:rPr lang="en-US" sz="28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CategoryRevenue</a:t>
            </a:r>
            <a:r>
              <a:rPr lang="en-US" sz="28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) AS</a:t>
            </a:r>
          </a:p>
          <a:p>
            <a:r>
              <a:rPr lang="en-US" sz="28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percentage_of_total_revenue</a:t>
            </a:r>
            <a:r>
              <a:rPr lang="en-US" sz="28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FROM </a:t>
            </a:r>
            <a:r>
              <a:rPr lang="en-US" sz="28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CategoryRevenue</a:t>
            </a:r>
            <a:r>
              <a:rPr lang="en-US" sz="28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ORDER BY</a:t>
            </a:r>
          </a:p>
          <a:p>
            <a:r>
              <a:rPr lang="en-US" sz="28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percentage_of_total_revenue</a:t>
            </a:r>
            <a:r>
              <a:rPr lang="en-US" sz="28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DESC; </a:t>
            </a:r>
          </a:p>
          <a:p>
            <a:endParaRPr lang="en-US" b="0" dirty="0"/>
          </a:p>
        </p:txBody>
      </p:sp>
      <p:pic>
        <p:nvPicPr>
          <p:cNvPr id="8" name="Content Placeholder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465359E-6E46-C873-92EC-A332FF0C6030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4663" y="3947794"/>
            <a:ext cx="4866563" cy="2545080"/>
          </a:xfrm>
        </p:spPr>
      </p:pic>
    </p:spTree>
    <p:extLst>
      <p:ext uri="{BB962C8B-B14F-4D97-AF65-F5344CB8AC3E}">
        <p14:creationId xmlns:p14="http://schemas.microsoft.com/office/powerpoint/2010/main" val="12812652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DFE9EF-99E2-3967-5844-B974154CEA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4. Identify the correlation between product price and the number of times a product has been purchased. 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6D6F013-8067-9A3F-63E1-32FE85ED1B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3293608"/>
          </a:xfrm>
        </p:spPr>
        <p:txBody>
          <a:bodyPr>
            <a:normAutofit fontScale="25000" lnSpcReduction="20000"/>
          </a:bodyPr>
          <a:lstStyle/>
          <a:p>
            <a:r>
              <a:rPr lang="en-US" sz="4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Python Code:</a:t>
            </a:r>
          </a:p>
          <a:p>
            <a:r>
              <a:rPr lang="en-US" sz="44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import pandas as pd</a:t>
            </a:r>
          </a:p>
          <a:p>
            <a:r>
              <a:rPr lang="en-US" sz="44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order_items_df</a:t>
            </a:r>
            <a:r>
              <a:rPr lang="en-US" sz="44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</a:t>
            </a:r>
            <a:r>
              <a:rPr lang="en-US" sz="44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pd.read_csv</a:t>
            </a:r>
            <a:r>
              <a:rPr lang="en-US" sz="44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('order_items.csv')</a:t>
            </a:r>
          </a:p>
          <a:p>
            <a:r>
              <a:rPr lang="en-US" sz="44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products_df</a:t>
            </a:r>
            <a:r>
              <a:rPr lang="en-US" sz="44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</a:t>
            </a:r>
            <a:r>
              <a:rPr lang="en-US" sz="44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pd.read_csv</a:t>
            </a:r>
            <a:r>
              <a:rPr lang="en-US" sz="44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('products.csv')</a:t>
            </a:r>
          </a:p>
          <a:p>
            <a:r>
              <a:rPr lang="en-US" sz="44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merged_df</a:t>
            </a:r>
            <a:r>
              <a:rPr lang="en-US" sz="44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</a:t>
            </a:r>
            <a:r>
              <a:rPr lang="en-US" sz="44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pd.merge</a:t>
            </a:r>
            <a:r>
              <a:rPr lang="en-US" sz="44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sz="44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order_items_df</a:t>
            </a:r>
            <a:r>
              <a:rPr lang="en-US" sz="44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44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products_df</a:t>
            </a:r>
            <a:r>
              <a:rPr lang="en-US" sz="44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on='</a:t>
            </a:r>
            <a:r>
              <a:rPr lang="en-US" sz="44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product_id</a:t>
            </a:r>
            <a:r>
              <a:rPr lang="en-US" sz="44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', how='inner')</a:t>
            </a:r>
          </a:p>
          <a:p>
            <a:r>
              <a:rPr lang="en-US" sz="44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product_summary</a:t>
            </a:r>
            <a:r>
              <a:rPr lang="en-US" sz="44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</a:t>
            </a:r>
          </a:p>
          <a:p>
            <a:r>
              <a:rPr lang="en-US" sz="44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4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merged_df.groupby</a:t>
            </a:r>
            <a:r>
              <a:rPr lang="en-US" sz="44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('</a:t>
            </a:r>
            <a:r>
              <a:rPr lang="en-US" sz="44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product_id</a:t>
            </a:r>
            <a:r>
              <a:rPr lang="en-US" sz="44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').</a:t>
            </a:r>
            <a:r>
              <a:rPr lang="en-US" sz="44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agg</a:t>
            </a:r>
            <a:r>
              <a:rPr lang="en-US" sz="44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sz="44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number_of_purchases</a:t>
            </a:r>
            <a:r>
              <a:rPr lang="en-US" sz="44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=('</a:t>
            </a:r>
            <a:r>
              <a:rPr lang="en-US" sz="44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order_id</a:t>
            </a:r>
            <a:r>
              <a:rPr lang="en-US" sz="44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’,</a:t>
            </a:r>
          </a:p>
          <a:p>
            <a:r>
              <a:rPr lang="en-US" sz="44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'count'),</a:t>
            </a:r>
            <a:r>
              <a:rPr lang="en-US" sz="44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average_price</a:t>
            </a:r>
            <a:r>
              <a:rPr lang="en-US" sz="44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=('price', 'mean')).</a:t>
            </a:r>
            <a:r>
              <a:rPr lang="en-US" sz="44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reset_index</a:t>
            </a:r>
            <a:r>
              <a:rPr lang="en-US" sz="44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()</a:t>
            </a:r>
          </a:p>
          <a:p>
            <a:r>
              <a:rPr lang="en-US" sz="44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correlation =</a:t>
            </a:r>
          </a:p>
          <a:p>
            <a:r>
              <a:rPr lang="en-US" sz="44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4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product_summary</a:t>
            </a:r>
            <a:r>
              <a:rPr lang="en-US" sz="44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['</a:t>
            </a:r>
            <a:r>
              <a:rPr lang="en-US" sz="44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number_of_purchases</a:t>
            </a:r>
            <a:r>
              <a:rPr lang="en-US" sz="44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'].</a:t>
            </a:r>
            <a:r>
              <a:rPr lang="en-US" sz="44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corr</a:t>
            </a:r>
            <a:r>
              <a:rPr lang="en-US" sz="44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sz="44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product_summary</a:t>
            </a:r>
            <a:r>
              <a:rPr lang="en-US" sz="44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['</a:t>
            </a:r>
            <a:r>
              <a:rPr lang="en-US" sz="44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average_price</a:t>
            </a:r>
            <a:r>
              <a:rPr lang="en-US" sz="44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'])</a:t>
            </a:r>
          </a:p>
          <a:p>
            <a:r>
              <a:rPr lang="en-US" sz="44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print(</a:t>
            </a:r>
            <a:r>
              <a:rPr lang="en-US" sz="44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f"The</a:t>
            </a:r>
            <a:r>
              <a:rPr lang="en-US" sz="44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correlation between product price and the number of times a product has been</a:t>
            </a:r>
          </a:p>
          <a:p>
            <a:r>
              <a:rPr lang="en-US" sz="44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purchased is: {correlation}")</a:t>
            </a:r>
          </a:p>
          <a:p>
            <a:endParaRPr lang="en-US" sz="1100" b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C8643ED-338B-6887-1E39-491C0C6ED4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94427" y="1777774"/>
            <a:ext cx="5183188" cy="2086656"/>
          </a:xfrm>
        </p:spPr>
        <p:txBody>
          <a:bodyPr>
            <a:noAutofit/>
          </a:bodyPr>
          <a:lstStyle/>
          <a:p>
            <a:r>
              <a: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SQL Code:</a:t>
            </a:r>
          </a:p>
          <a:p>
            <a:r>
              <a:rPr lang="en-US" sz="11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WITH </a:t>
            </a:r>
            <a:r>
              <a:rPr lang="en-US" sz="11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ProductsPerOrder</a:t>
            </a:r>
            <a:r>
              <a:rPr lang="en-US" sz="11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AS (  SELECT    </a:t>
            </a:r>
            <a:r>
              <a:rPr lang="en-US" sz="11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order_id</a:t>
            </a:r>
            <a:r>
              <a:rPr lang="en-US" sz="11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   COUNT(</a:t>
            </a:r>
            <a:r>
              <a:rPr lang="en-US" sz="11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product_id</a:t>
            </a:r>
            <a:r>
              <a:rPr lang="en-US" sz="11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AS</a:t>
            </a:r>
          </a:p>
          <a:p>
            <a:r>
              <a:rPr lang="en-US" sz="11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1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product_count</a:t>
            </a:r>
            <a:r>
              <a:rPr lang="en-US" sz="11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FROM </a:t>
            </a:r>
            <a:r>
              <a:rPr lang="en-US" sz="11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order_items</a:t>
            </a:r>
            <a:r>
              <a:rPr lang="en-US" sz="11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GROUP BY    </a:t>
            </a:r>
            <a:r>
              <a:rPr lang="en-US" sz="11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order_id</a:t>
            </a:r>
            <a:r>
              <a:rPr lang="en-US" sz="11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)SELECT  T3.customer_city, </a:t>
            </a:r>
          </a:p>
          <a:p>
            <a:r>
              <a:rPr lang="en-US" sz="11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AVG(T1.product_count) AS </a:t>
            </a:r>
            <a:r>
              <a:rPr lang="en-US" sz="11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avg_products_per_orderFROM</a:t>
            </a:r>
            <a:r>
              <a:rPr lang="en-US" sz="11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1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ProductsPerOrder</a:t>
            </a:r>
            <a:r>
              <a:rPr lang="en-US" sz="11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AS</a:t>
            </a:r>
          </a:p>
          <a:p>
            <a:r>
              <a:rPr lang="en-US" sz="11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T1JOIN orders AS T2  ON T1.order_id = T2.order_idJOIN Customers AS T3  ON</a:t>
            </a:r>
          </a:p>
          <a:p>
            <a:r>
              <a:rPr lang="en-US" sz="11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T2.customer_id = T3.customer_idGROUP BY  T3.customer_cityORDER BY </a:t>
            </a:r>
          </a:p>
          <a:p>
            <a:r>
              <a:rPr lang="en-US" sz="11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1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avg_products_per_order</a:t>
            </a:r>
            <a:r>
              <a:rPr lang="en-US" sz="11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DESC;</a:t>
            </a:r>
          </a:p>
        </p:txBody>
      </p: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5F04EAB8-9721-C67E-4592-9FB22E6B515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874" y="5080227"/>
            <a:ext cx="5756955" cy="1066754"/>
          </a:xfrm>
        </p:spPr>
      </p:pic>
      <p:pic>
        <p:nvPicPr>
          <p:cNvPr id="18" name="Content Placeholder 1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8BD53B6-40D8-F4C2-9BD2-BE713A2D7579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7794" y="4974771"/>
            <a:ext cx="4572000" cy="998220"/>
          </a:xfrm>
        </p:spPr>
      </p:pic>
    </p:spTree>
    <p:extLst>
      <p:ext uri="{BB962C8B-B14F-4D97-AF65-F5344CB8AC3E}">
        <p14:creationId xmlns:p14="http://schemas.microsoft.com/office/powerpoint/2010/main" val="24365726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AF37C0-8063-0570-F5AF-00B9A9704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229" y="365126"/>
            <a:ext cx="11397342" cy="952046"/>
          </a:xfrm>
        </p:spPr>
        <p:txBody>
          <a:bodyPr>
            <a:noAutofit/>
          </a:bodyPr>
          <a:lstStyle/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5. Calculate the total revenue generated by each seller and rank them by revenue. 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6A32228-74EB-2AE2-12C8-3FCCF0EBF5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317171"/>
            <a:ext cx="5157787" cy="3331029"/>
          </a:xfrm>
        </p:spPr>
        <p:txBody>
          <a:bodyPr>
            <a:normAutofit fontScale="70000" lnSpcReduction="20000"/>
          </a:bodyPr>
          <a:lstStyle/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Python Code:</a:t>
            </a:r>
          </a:p>
          <a:p>
            <a:r>
              <a:rPr lang="en-US" sz="18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order_items_df</a:t>
            </a:r>
            <a:r>
              <a:rPr lang="en-US" sz="18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</a:t>
            </a:r>
            <a:r>
              <a:rPr lang="en-US" sz="18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pd.read_csv</a:t>
            </a:r>
            <a:r>
              <a:rPr lang="en-US" sz="18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('order_items.csv')</a:t>
            </a:r>
          </a:p>
          <a:p>
            <a:r>
              <a:rPr lang="en-US" sz="18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revenue_per_seller</a:t>
            </a:r>
            <a:r>
              <a:rPr lang="en-US" sz="18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</a:t>
            </a:r>
          </a:p>
          <a:p>
            <a:r>
              <a:rPr lang="en-US" sz="18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order_items_df.groupby</a:t>
            </a:r>
            <a:r>
              <a:rPr lang="en-US" sz="18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('</a:t>
            </a:r>
            <a:r>
              <a:rPr lang="en-US" sz="18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seller_id</a:t>
            </a:r>
            <a:r>
              <a:rPr lang="en-US" sz="18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')['price'].sum().</a:t>
            </a:r>
            <a:r>
              <a:rPr lang="en-US" sz="18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reset_index</a:t>
            </a:r>
            <a:r>
              <a:rPr lang="en-US" sz="18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()</a:t>
            </a:r>
          </a:p>
          <a:p>
            <a:r>
              <a:rPr lang="en-US" sz="18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revenue_per_seller.columns</a:t>
            </a:r>
            <a:r>
              <a:rPr lang="en-US" sz="18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['</a:t>
            </a:r>
            <a:r>
              <a:rPr lang="en-US" sz="18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seller_id</a:t>
            </a:r>
            <a:r>
              <a:rPr lang="en-US" sz="18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', '</a:t>
            </a:r>
            <a:r>
              <a:rPr lang="en-US" sz="18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total_revenue</a:t>
            </a:r>
            <a:r>
              <a:rPr lang="en-US" sz="18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']</a:t>
            </a:r>
          </a:p>
          <a:p>
            <a:r>
              <a:rPr lang="en-US" sz="18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ranked_sellers</a:t>
            </a:r>
            <a:r>
              <a:rPr lang="en-US" sz="18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</a:t>
            </a:r>
            <a:r>
              <a:rPr lang="en-US" sz="18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revenue_per_seller.sort_values</a:t>
            </a:r>
            <a:r>
              <a:rPr lang="en-US" sz="18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(by='</a:t>
            </a:r>
            <a:r>
              <a:rPr lang="en-US" sz="18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total_revenue</a:t>
            </a:r>
            <a:r>
              <a:rPr lang="en-US" sz="18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', ascending=False)</a:t>
            </a:r>
          </a:p>
          <a:p>
            <a:r>
              <a:rPr lang="en-US" sz="18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ranked_sellers</a:t>
            </a:r>
            <a:r>
              <a:rPr lang="en-US" sz="18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['rank’] =</a:t>
            </a:r>
          </a:p>
          <a:p>
            <a:r>
              <a:rPr lang="en-US" sz="18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ranked_sellers</a:t>
            </a:r>
            <a:r>
              <a:rPr lang="en-US" sz="18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['</a:t>
            </a:r>
            <a:r>
              <a:rPr lang="en-US" sz="18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total_revenue</a:t>
            </a:r>
            <a:r>
              <a:rPr lang="en-US" sz="18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'].rank(method='dense’,</a:t>
            </a:r>
          </a:p>
          <a:p>
            <a:r>
              <a:rPr lang="en-US" sz="18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ascending=False).</a:t>
            </a:r>
            <a:r>
              <a:rPr lang="en-US" sz="18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astype</a:t>
            </a:r>
            <a:r>
              <a:rPr lang="en-US" sz="18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(int)</a:t>
            </a:r>
          </a:p>
          <a:p>
            <a:r>
              <a:rPr lang="en-US" sz="18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ranked_sellers</a:t>
            </a:r>
            <a:r>
              <a:rPr lang="en-US" sz="18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</a:t>
            </a:r>
            <a:r>
              <a:rPr lang="en-US" sz="18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ranked_sellers.reset_index</a:t>
            </a:r>
            <a:r>
              <a:rPr lang="en-US" sz="18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(drop=True)</a:t>
            </a:r>
          </a:p>
          <a:p>
            <a:r>
              <a:rPr lang="en-US" sz="18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print("\</a:t>
            </a:r>
            <a:r>
              <a:rPr lang="en-US" sz="18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nSellers</a:t>
            </a:r>
            <a:r>
              <a:rPr lang="en-US" sz="18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ranked by total revenue:")</a:t>
            </a:r>
          </a:p>
          <a:p>
            <a:r>
              <a:rPr lang="en-US" sz="18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print(</a:t>
            </a:r>
            <a:r>
              <a:rPr lang="en-US" sz="18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ranked_sellers</a:t>
            </a:r>
            <a:r>
              <a:rPr lang="en-US" sz="18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endParaRPr lang="en-US" sz="1100" b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6E0E4F1-D7F9-E41B-5B60-11A57D177A9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756" y="4746171"/>
            <a:ext cx="4134644" cy="2037131"/>
          </a:xfrm>
        </p:spPr>
      </p:pic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9F502BF9-C978-1AB2-3A15-C854E011C8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33457" y="1317172"/>
            <a:ext cx="5183188" cy="1992085"/>
          </a:xfrm>
        </p:spPr>
        <p:txBody>
          <a:bodyPr>
            <a:noAutofit/>
          </a:bodyPr>
          <a:lstStyle/>
          <a:p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SQL Code</a:t>
            </a:r>
            <a:r>
              <a:rPr lang="en-US" sz="14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r>
              <a:rPr lang="en-US" sz="14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SELECT T1.seller_id, SUM(T2.price) AS </a:t>
            </a:r>
            <a:r>
              <a:rPr lang="en-US" sz="14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total_revenue</a:t>
            </a:r>
            <a:r>
              <a:rPr lang="en-US" sz="14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RANK() OVER ( ORDER BY SUM(T2.price)</a:t>
            </a:r>
          </a:p>
          <a:p>
            <a:r>
              <a:rPr lang="en-US" sz="14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DESC ) AS </a:t>
            </a:r>
            <a:r>
              <a:rPr lang="en-US" sz="14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revenue_rank</a:t>
            </a:r>
            <a:r>
              <a:rPr lang="en-US" sz="14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FROM sellers AS T1 JOIN </a:t>
            </a:r>
            <a:r>
              <a:rPr lang="en-US" sz="14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order_items</a:t>
            </a:r>
            <a:r>
              <a:rPr lang="en-US" sz="14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AS T2 ON T1.seller_id =</a:t>
            </a:r>
          </a:p>
          <a:p>
            <a:r>
              <a:rPr lang="en-US" sz="14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T2.seller_id GROUP BY T1.seller_id ORDER BY </a:t>
            </a:r>
            <a:r>
              <a:rPr lang="en-US" sz="14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revenue_rank</a:t>
            </a:r>
            <a:r>
              <a:rPr lang="en-US" sz="14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;</a:t>
            </a:r>
          </a:p>
        </p:txBody>
      </p:sp>
      <p:pic>
        <p:nvPicPr>
          <p:cNvPr id="8" name="Content Placeholder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04105CA-CBA1-9C36-BD55-EB415D0A9B3B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7575" y="3782333"/>
            <a:ext cx="5223669" cy="2378595"/>
          </a:xfrm>
        </p:spPr>
      </p:pic>
    </p:spTree>
    <p:extLst>
      <p:ext uri="{BB962C8B-B14F-4D97-AF65-F5344CB8AC3E}">
        <p14:creationId xmlns:p14="http://schemas.microsoft.com/office/powerpoint/2010/main" val="9308798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CF5ABF97-831E-1BE6-007E-3A3267A80B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513" y="2209799"/>
            <a:ext cx="11876316" cy="1382487"/>
          </a:xfrm>
        </p:spPr>
        <p:txBody>
          <a:bodyPr>
            <a:noAutofit/>
          </a:bodyPr>
          <a:lstStyle/>
          <a:p>
            <a:pPr algn="ctr"/>
            <a:r>
              <a:rPr lang="en-US" sz="8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ADVANCED PROBLEMS</a:t>
            </a:r>
          </a:p>
        </p:txBody>
      </p:sp>
    </p:spTree>
    <p:extLst>
      <p:ext uri="{BB962C8B-B14F-4D97-AF65-F5344CB8AC3E}">
        <p14:creationId xmlns:p14="http://schemas.microsoft.com/office/powerpoint/2010/main" val="36026472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D39B88-CD5B-70CD-FFA1-3D15D4CF9F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365126"/>
            <a:ext cx="11375571" cy="516617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 Calculate the moving average of order values for each customer over their order history.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FB9A7E-14E9-A0C4-894F-EB4FBE1CF8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881745"/>
            <a:ext cx="5157787" cy="3790464"/>
          </a:xfrm>
        </p:spPr>
        <p:txBody>
          <a:bodyPr>
            <a:normAutofit fontScale="92500" lnSpcReduction="10000"/>
          </a:bodyPr>
          <a:lstStyle/>
          <a:p>
            <a:r>
              <a:rPr lang="en-US" sz="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Python Code:</a:t>
            </a:r>
          </a:p>
          <a:p>
            <a:r>
              <a:rPr lang="en-US" sz="9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import pandas as pd</a:t>
            </a:r>
          </a:p>
          <a:p>
            <a:r>
              <a:rPr lang="en-US" sz="9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orders_df</a:t>
            </a:r>
            <a:r>
              <a:rPr lang="en-US" sz="9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</a:t>
            </a:r>
            <a:r>
              <a:rPr lang="en-US" sz="9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pd.read_csv</a:t>
            </a:r>
            <a:r>
              <a:rPr lang="en-US" sz="9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('orders.csv')</a:t>
            </a:r>
          </a:p>
          <a:p>
            <a:r>
              <a:rPr lang="en-US" sz="9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order_items_df</a:t>
            </a:r>
            <a:r>
              <a:rPr lang="en-US" sz="9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</a:t>
            </a:r>
            <a:r>
              <a:rPr lang="en-US" sz="9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pd.read_csv</a:t>
            </a:r>
            <a:r>
              <a:rPr lang="en-US" sz="9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('order_items.csv')</a:t>
            </a:r>
          </a:p>
          <a:p>
            <a:r>
              <a:rPr lang="en-US" sz="9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customers_df</a:t>
            </a:r>
            <a:r>
              <a:rPr lang="en-US" sz="9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</a:t>
            </a:r>
            <a:r>
              <a:rPr lang="en-US" sz="9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pd.read_csv</a:t>
            </a:r>
            <a:r>
              <a:rPr lang="en-US" sz="9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('Customers.csv')</a:t>
            </a:r>
          </a:p>
          <a:p>
            <a:r>
              <a:rPr lang="en-US" sz="9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order_value_df</a:t>
            </a:r>
            <a:r>
              <a:rPr lang="en-US" sz="9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</a:t>
            </a:r>
            <a:r>
              <a:rPr lang="en-US" sz="9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pd.merge</a:t>
            </a:r>
            <a:r>
              <a:rPr lang="en-US" sz="9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sz="9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order_items_df</a:t>
            </a:r>
            <a:r>
              <a:rPr lang="en-US" sz="9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9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orders_df</a:t>
            </a:r>
            <a:r>
              <a:rPr lang="en-US" sz="9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on='</a:t>
            </a:r>
            <a:r>
              <a:rPr lang="en-US" sz="9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order_id</a:t>
            </a:r>
            <a:r>
              <a:rPr lang="en-US" sz="9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', how='left')</a:t>
            </a:r>
          </a:p>
          <a:p>
            <a:r>
              <a:rPr lang="en-US" sz="9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order_value_df</a:t>
            </a:r>
            <a:r>
              <a:rPr lang="en-US" sz="9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</a:t>
            </a:r>
            <a:r>
              <a:rPr lang="en-US" sz="9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order_value_df.groupby</a:t>
            </a:r>
            <a:r>
              <a:rPr lang="en-US" sz="9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('</a:t>
            </a:r>
            <a:r>
              <a:rPr lang="en-US" sz="9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order_id</a:t>
            </a:r>
            <a:r>
              <a:rPr lang="en-US" sz="9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').</a:t>
            </a:r>
            <a:r>
              <a:rPr lang="en-US" sz="9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agg</a:t>
            </a:r>
            <a:r>
              <a:rPr lang="en-US" sz="9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sz="9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order_value</a:t>
            </a:r>
            <a:r>
              <a:rPr lang="en-US" sz="9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=('price', 'sum'),</a:t>
            </a:r>
            <a:r>
              <a:rPr lang="en-US" sz="9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order_purchase_timestamp</a:t>
            </a:r>
            <a:r>
              <a:rPr lang="en-US" sz="9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=('</a:t>
            </a:r>
            <a:r>
              <a:rPr lang="en-US" sz="9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order_purchase_timestamp</a:t>
            </a:r>
            <a:r>
              <a:rPr lang="en-US" sz="9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', 'first')).</a:t>
            </a:r>
            <a:r>
              <a:rPr lang="en-US" sz="9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reset_index</a:t>
            </a:r>
            <a:r>
              <a:rPr lang="en-US" sz="9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()</a:t>
            </a:r>
          </a:p>
          <a:p>
            <a:r>
              <a:rPr lang="en-US" sz="9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order_value_df</a:t>
            </a:r>
            <a:r>
              <a:rPr lang="en-US" sz="9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</a:t>
            </a:r>
            <a:r>
              <a:rPr lang="en-US" sz="9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pd.merge</a:t>
            </a:r>
            <a:r>
              <a:rPr lang="en-US" sz="9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sz="9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order_value_df</a:t>
            </a:r>
            <a:r>
              <a:rPr lang="en-US" sz="9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9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orders_df</a:t>
            </a:r>
            <a:r>
              <a:rPr lang="en-US" sz="9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[['</a:t>
            </a:r>
            <a:r>
              <a:rPr lang="en-US" sz="9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order_id</a:t>
            </a:r>
            <a:r>
              <a:rPr lang="en-US" sz="9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', '</a:t>
            </a:r>
            <a:r>
              <a:rPr lang="en-US" sz="9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customer_id</a:t>
            </a:r>
            <a:r>
              <a:rPr lang="en-US" sz="9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']], on='</a:t>
            </a:r>
            <a:r>
              <a:rPr lang="en-US" sz="9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order_id</a:t>
            </a:r>
            <a:r>
              <a:rPr lang="en-US" sz="9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', how='left')</a:t>
            </a:r>
          </a:p>
          <a:p>
            <a:r>
              <a:rPr lang="en-US" sz="9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order_value_df</a:t>
            </a:r>
            <a:r>
              <a:rPr lang="en-US" sz="9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</a:t>
            </a:r>
            <a:r>
              <a:rPr lang="en-US" sz="9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pd.merge</a:t>
            </a:r>
            <a:r>
              <a:rPr lang="en-US" sz="9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sz="9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order_value_df</a:t>
            </a:r>
            <a:r>
              <a:rPr lang="en-US" sz="9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9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customers_df</a:t>
            </a:r>
            <a:r>
              <a:rPr lang="en-US" sz="9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on='</a:t>
            </a:r>
            <a:r>
              <a:rPr lang="en-US" sz="9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customer_id</a:t>
            </a:r>
            <a:r>
              <a:rPr lang="en-US" sz="9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', how='left')</a:t>
            </a:r>
          </a:p>
          <a:p>
            <a:r>
              <a:rPr lang="en-US" sz="9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order_value_df.dropna</a:t>
            </a:r>
            <a:r>
              <a:rPr lang="en-US" sz="9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(subset=['</a:t>
            </a:r>
            <a:r>
              <a:rPr lang="en-US" sz="9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customer_unique_id</a:t>
            </a:r>
            <a:r>
              <a:rPr lang="en-US" sz="9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'], </a:t>
            </a:r>
            <a:r>
              <a:rPr lang="en-US" sz="9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inplace</a:t>
            </a:r>
            <a:r>
              <a:rPr lang="en-US" sz="9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=True)</a:t>
            </a:r>
          </a:p>
          <a:p>
            <a:r>
              <a:rPr lang="en-US" sz="9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order_value_df</a:t>
            </a:r>
            <a:r>
              <a:rPr lang="en-US" sz="9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['</a:t>
            </a:r>
            <a:r>
              <a:rPr lang="en-US" sz="9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order_purchase_timestamp</a:t>
            </a:r>
            <a:r>
              <a:rPr lang="en-US" sz="9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'] = </a:t>
            </a:r>
            <a:r>
              <a:rPr lang="en-US" sz="9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pd.to_datetime</a:t>
            </a:r>
            <a:r>
              <a:rPr lang="en-US" sz="9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sz="9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order_value_df</a:t>
            </a:r>
            <a:r>
              <a:rPr lang="en-US" sz="9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['</a:t>
            </a:r>
            <a:r>
              <a:rPr lang="en-US" sz="9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order_purchase_timestamp</a:t>
            </a:r>
            <a:r>
              <a:rPr lang="en-US" sz="9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'])</a:t>
            </a:r>
          </a:p>
          <a:p>
            <a:r>
              <a:rPr lang="en-US" sz="9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order_value_df.sort_values</a:t>
            </a:r>
            <a:r>
              <a:rPr lang="en-US" sz="9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(by=['</a:t>
            </a:r>
            <a:r>
              <a:rPr lang="en-US" sz="9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customer_unique_id</a:t>
            </a:r>
            <a:r>
              <a:rPr lang="en-US" sz="9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', '</a:t>
            </a:r>
            <a:r>
              <a:rPr lang="en-US" sz="9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order_purchase_timestamp</a:t>
            </a:r>
            <a:r>
              <a:rPr lang="en-US" sz="9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'], </a:t>
            </a:r>
            <a:r>
              <a:rPr lang="en-US" sz="9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inplace</a:t>
            </a:r>
            <a:r>
              <a:rPr lang="en-US" sz="9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=True)</a:t>
            </a:r>
          </a:p>
          <a:p>
            <a:r>
              <a:rPr lang="en-US" sz="9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order_value_df</a:t>
            </a:r>
            <a:r>
              <a:rPr lang="en-US" sz="9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['</a:t>
            </a:r>
            <a:r>
              <a:rPr lang="en-US" sz="9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moving_average_order_value</a:t>
            </a:r>
            <a:r>
              <a:rPr lang="en-US" sz="9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'] = </a:t>
            </a:r>
            <a:r>
              <a:rPr lang="en-US" sz="9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order_value_df.groupby</a:t>
            </a:r>
            <a:r>
              <a:rPr lang="en-US" sz="9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('</a:t>
            </a:r>
            <a:r>
              <a:rPr lang="en-US" sz="9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customer_unique_id</a:t>
            </a:r>
            <a:r>
              <a:rPr lang="en-US" sz="9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')['</a:t>
            </a:r>
            <a:r>
              <a:rPr lang="en-US" sz="9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order_value</a:t>
            </a:r>
            <a:r>
              <a:rPr lang="en-US" sz="9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'].transform(lambda x: </a:t>
            </a:r>
            <a:r>
              <a:rPr lang="en-US" sz="9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x.rolling</a:t>
            </a:r>
            <a:r>
              <a:rPr lang="en-US" sz="9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(window=2, </a:t>
            </a:r>
            <a:r>
              <a:rPr lang="en-US" sz="9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min_periods</a:t>
            </a:r>
            <a:r>
              <a:rPr lang="en-US" sz="9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=1).mean())</a:t>
            </a:r>
          </a:p>
          <a:p>
            <a:r>
              <a:rPr lang="en-US" sz="9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print("Moving Average of Order Values:")</a:t>
            </a:r>
          </a:p>
          <a:p>
            <a:r>
              <a:rPr lang="en-US" sz="9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print(</a:t>
            </a:r>
            <a:r>
              <a:rPr lang="en-US" sz="9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order_value_df</a:t>
            </a:r>
            <a:r>
              <a:rPr lang="en-US" sz="9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[['</a:t>
            </a:r>
            <a:r>
              <a:rPr lang="en-US" sz="9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customer_unique_id</a:t>
            </a:r>
            <a:r>
              <a:rPr lang="en-US" sz="9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', '</a:t>
            </a:r>
            <a:r>
              <a:rPr lang="en-US" sz="9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order_purchase_timestamp</a:t>
            </a:r>
            <a:r>
              <a:rPr lang="en-US" sz="9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', '</a:t>
            </a:r>
            <a:r>
              <a:rPr lang="en-US" sz="9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order_value</a:t>
            </a:r>
            <a:r>
              <a:rPr lang="en-US" sz="9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', '</a:t>
            </a:r>
            <a:r>
              <a:rPr lang="en-US" sz="9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moving_average_order_value</a:t>
            </a:r>
            <a:r>
              <a:rPr lang="en-US" sz="9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']].head(10))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012E364-050C-93FB-582B-DC7F6988871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099456"/>
            <a:ext cx="5183188" cy="3135086"/>
          </a:xfrm>
        </p:spPr>
        <p:txBody>
          <a:bodyPr>
            <a:noAutofit/>
          </a:bodyPr>
          <a:lstStyle/>
          <a:p>
            <a:r>
              <a: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SQL Code:</a:t>
            </a:r>
          </a:p>
          <a:p>
            <a:r>
              <a:rPr lang="en-US" sz="11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WITH </a:t>
            </a:r>
            <a:r>
              <a:rPr lang="en-US" sz="11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order_values</a:t>
            </a:r>
            <a:r>
              <a:rPr lang="en-US" sz="11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AS (    SELECT        t1.order_id,        t1.order_purchase_timestamp, </a:t>
            </a:r>
          </a:p>
          <a:p>
            <a:r>
              <a:rPr lang="en-US" sz="11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t2.customer_unique_id,        SUM(t3.price) AS </a:t>
            </a:r>
            <a:r>
              <a:rPr lang="en-US" sz="11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total_order_value</a:t>
            </a:r>
            <a:r>
              <a:rPr lang="en-US" sz="11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FROM        orders</a:t>
            </a:r>
          </a:p>
          <a:p>
            <a:r>
              <a:rPr lang="en-US" sz="11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AS t1    JOIN        Customers AS t2 ON t1.customer_id = t2.customer_id    JOIN     </a:t>
            </a:r>
          </a:p>
          <a:p>
            <a:r>
              <a:rPr lang="en-US" sz="11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1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order_items</a:t>
            </a:r>
            <a:r>
              <a:rPr lang="en-US" sz="11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AS t3 ON t1.order_id = t3.order_id    GROUP BY        t1.order_id,  </a:t>
            </a:r>
          </a:p>
          <a:p>
            <a:r>
              <a:rPr lang="en-US" sz="11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t1.order_purchase_timestamp,        t2.customer_unique_id)SELECT    </a:t>
            </a:r>
            <a:r>
              <a:rPr lang="en-US" sz="11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order_id</a:t>
            </a:r>
            <a:r>
              <a:rPr lang="en-US" sz="11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</a:p>
          <a:p>
            <a:r>
              <a:rPr lang="en-US" sz="11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1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customer_unique_id</a:t>
            </a:r>
            <a:r>
              <a:rPr lang="en-US" sz="11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   </a:t>
            </a:r>
            <a:r>
              <a:rPr lang="en-US" sz="11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order_purchase_timestamp</a:t>
            </a:r>
            <a:r>
              <a:rPr lang="en-US" sz="11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   </a:t>
            </a:r>
            <a:r>
              <a:rPr lang="en-US" sz="11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total_order_value</a:t>
            </a:r>
            <a:r>
              <a:rPr lang="en-US" sz="11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</a:p>
          <a:p>
            <a:r>
              <a:rPr lang="en-US" sz="11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AVG(</a:t>
            </a:r>
            <a:r>
              <a:rPr lang="en-US" sz="11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total_order_value</a:t>
            </a:r>
            <a:r>
              <a:rPr lang="en-US" sz="11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OVER (        PARTITION BY </a:t>
            </a:r>
            <a:r>
              <a:rPr lang="en-US" sz="11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customer_unique_id</a:t>
            </a:r>
            <a:r>
              <a:rPr lang="en-US" sz="11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ORDER BY</a:t>
            </a:r>
          </a:p>
          <a:p>
            <a:r>
              <a:rPr lang="en-US" sz="11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1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order_purchase_timestamp</a:t>
            </a:r>
            <a:r>
              <a:rPr lang="en-US" sz="11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ROWS BETWEEN 1 PRECEDING AND CURRENT ROW    )</a:t>
            </a:r>
          </a:p>
          <a:p>
            <a:r>
              <a:rPr lang="en-US" sz="11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AS </a:t>
            </a:r>
            <a:r>
              <a:rPr lang="en-US" sz="11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moving_average_order_valueFROM</a:t>
            </a:r>
            <a:r>
              <a:rPr lang="en-US" sz="11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</a:t>
            </a:r>
            <a:r>
              <a:rPr lang="en-US" sz="11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order_valuesORDER</a:t>
            </a:r>
            <a:r>
              <a:rPr lang="en-US" sz="11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BY  </a:t>
            </a:r>
          </a:p>
          <a:p>
            <a:r>
              <a:rPr lang="en-US" sz="11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en-US" sz="11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customer_unique_id</a:t>
            </a:r>
            <a:r>
              <a:rPr lang="en-US" sz="11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   </a:t>
            </a:r>
            <a:r>
              <a:rPr lang="en-US" sz="11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order_purchase_timestamp</a:t>
            </a:r>
            <a:r>
              <a:rPr lang="en-US" sz="11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;</a:t>
            </a:r>
          </a:p>
        </p:txBody>
      </p:sp>
      <p:pic>
        <p:nvPicPr>
          <p:cNvPr id="24" name="Content Placeholder 2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5D1105D-897B-7AEB-2721-3F72DF68DFAD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4427" y="4571787"/>
            <a:ext cx="5183188" cy="2112254"/>
          </a:xfr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F541F80-3CC0-7B7D-9EB4-8FE1793ED7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99" y="4762954"/>
            <a:ext cx="5345084" cy="1921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55638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7BD669-0D38-1D34-E2EA-5D09CFC739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771" y="365125"/>
            <a:ext cx="10952617" cy="823913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Calculate the cumulative sales per month for each year.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5AB2C9-A4A7-365F-5281-E6A74BB3EE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189039"/>
            <a:ext cx="5157787" cy="3646008"/>
          </a:xfrm>
        </p:spPr>
        <p:txBody>
          <a:bodyPr>
            <a:normAutofit fontScale="25000" lnSpcReduction="20000"/>
          </a:bodyPr>
          <a:lstStyle/>
          <a:p>
            <a:r>
              <a:rPr lang="en-US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Python Code:</a:t>
            </a:r>
          </a:p>
          <a:p>
            <a:r>
              <a:rPr lang="en-US" sz="36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orders_df</a:t>
            </a:r>
            <a:r>
              <a:rPr lang="en-US" sz="36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</a:t>
            </a:r>
            <a:r>
              <a:rPr lang="en-US" sz="36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pd.read_csv</a:t>
            </a:r>
            <a:r>
              <a:rPr lang="en-US" sz="36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('orders.csv')</a:t>
            </a:r>
          </a:p>
          <a:p>
            <a:r>
              <a:rPr lang="en-US" sz="36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order_items_df</a:t>
            </a:r>
            <a:r>
              <a:rPr lang="en-US" sz="36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</a:t>
            </a:r>
            <a:r>
              <a:rPr lang="en-US" sz="36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pd.read_csv</a:t>
            </a:r>
            <a:r>
              <a:rPr lang="en-US" sz="36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('order_items.csv')</a:t>
            </a:r>
          </a:p>
          <a:p>
            <a:r>
              <a:rPr lang="en-US" sz="36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order_sales</a:t>
            </a:r>
            <a:r>
              <a:rPr lang="en-US" sz="36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</a:t>
            </a:r>
            <a:r>
              <a:rPr lang="en-US" sz="36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order_items_df.groupby</a:t>
            </a:r>
            <a:r>
              <a:rPr lang="en-US" sz="36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('</a:t>
            </a:r>
            <a:r>
              <a:rPr lang="en-US" sz="36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order_id</a:t>
            </a:r>
            <a:r>
              <a:rPr lang="en-US" sz="36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').</a:t>
            </a:r>
            <a:r>
              <a:rPr lang="en-US" sz="36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agg</a:t>
            </a:r>
            <a:r>
              <a:rPr lang="en-US" sz="36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sz="36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total_sales</a:t>
            </a:r>
            <a:r>
              <a:rPr lang="en-US" sz="36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=('price', 'sum')).</a:t>
            </a:r>
            <a:r>
              <a:rPr lang="en-US" sz="36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reset_index</a:t>
            </a:r>
            <a:r>
              <a:rPr lang="en-US" sz="36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()</a:t>
            </a:r>
          </a:p>
          <a:p>
            <a:r>
              <a:rPr lang="en-US" sz="36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order_sales_with_date</a:t>
            </a:r>
            <a:r>
              <a:rPr lang="en-US" sz="36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</a:t>
            </a:r>
            <a:r>
              <a:rPr lang="en-US" sz="36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pd.merge</a:t>
            </a:r>
            <a:r>
              <a:rPr lang="en-US" sz="36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sz="36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orders_df</a:t>
            </a:r>
            <a:r>
              <a:rPr lang="en-US" sz="36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[['</a:t>
            </a:r>
            <a:r>
              <a:rPr lang="en-US" sz="36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order_id</a:t>
            </a:r>
            <a:r>
              <a:rPr lang="en-US" sz="36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', '</a:t>
            </a:r>
            <a:r>
              <a:rPr lang="en-US" sz="36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order_purchase_timestamp</a:t>
            </a:r>
            <a:r>
              <a:rPr lang="en-US" sz="36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']],</a:t>
            </a:r>
            <a:r>
              <a:rPr lang="en-US" sz="36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order_sales</a:t>
            </a:r>
            <a:r>
              <a:rPr lang="en-US" sz="36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</a:p>
          <a:p>
            <a:r>
              <a:rPr lang="en-US" sz="36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on='</a:t>
            </a:r>
            <a:r>
              <a:rPr lang="en-US" sz="36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order_id</a:t>
            </a:r>
            <a:r>
              <a:rPr lang="en-US" sz="36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')</a:t>
            </a:r>
          </a:p>
          <a:p>
            <a:r>
              <a:rPr lang="en-US" sz="36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order_sales_with_date</a:t>
            </a:r>
            <a:r>
              <a:rPr lang="en-US" sz="36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['</a:t>
            </a:r>
            <a:r>
              <a:rPr lang="en-US" sz="36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order_purchase_timestamp</a:t>
            </a:r>
            <a:r>
              <a:rPr lang="en-US" sz="36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'] = </a:t>
            </a:r>
          </a:p>
          <a:p>
            <a:r>
              <a:rPr lang="en-US" sz="36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pd.to_datetime</a:t>
            </a:r>
            <a:r>
              <a:rPr lang="en-US" sz="36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sz="36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order_sales_with_date</a:t>
            </a:r>
            <a:r>
              <a:rPr lang="en-US" sz="36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['</a:t>
            </a:r>
            <a:r>
              <a:rPr lang="en-US" sz="36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order_purchase_timestamp</a:t>
            </a:r>
            <a:r>
              <a:rPr lang="en-US" sz="36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'])</a:t>
            </a:r>
          </a:p>
          <a:p>
            <a:r>
              <a:rPr lang="en-US" sz="36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order_sales_with_date</a:t>
            </a:r>
            <a:r>
              <a:rPr lang="en-US" sz="36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['year'] = </a:t>
            </a:r>
            <a:r>
              <a:rPr lang="en-US" sz="36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order_sales_with_date</a:t>
            </a:r>
            <a:r>
              <a:rPr lang="en-US" sz="36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['</a:t>
            </a:r>
            <a:r>
              <a:rPr lang="en-US" sz="36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order_purchase_timestamp</a:t>
            </a:r>
            <a:r>
              <a:rPr lang="en-US" sz="36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'].</a:t>
            </a:r>
            <a:r>
              <a:rPr lang="en-US" sz="36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dt.year</a:t>
            </a:r>
            <a:endParaRPr lang="en-US" sz="3600" b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36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order_sales_with_date</a:t>
            </a:r>
            <a:r>
              <a:rPr lang="en-US" sz="36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['month'] = </a:t>
            </a:r>
            <a:r>
              <a:rPr lang="en-US" sz="36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order_sales_with_date</a:t>
            </a:r>
            <a:r>
              <a:rPr lang="en-US" sz="36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['</a:t>
            </a:r>
            <a:r>
              <a:rPr lang="en-US" sz="36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order_purchase_timestamp</a:t>
            </a:r>
            <a:r>
              <a:rPr lang="en-US" sz="36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'].</a:t>
            </a:r>
            <a:r>
              <a:rPr lang="en-US" sz="36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dt.month</a:t>
            </a:r>
            <a:endParaRPr lang="en-US" sz="3600" b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36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monthly_sales</a:t>
            </a:r>
            <a:r>
              <a:rPr lang="en-US" sz="36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</a:t>
            </a:r>
            <a:r>
              <a:rPr lang="en-US" sz="36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order_sales_with_date.groupby</a:t>
            </a:r>
            <a:r>
              <a:rPr lang="en-US" sz="36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(['year', 'month']).</a:t>
            </a:r>
            <a:r>
              <a:rPr lang="en-US" sz="36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agg</a:t>
            </a:r>
            <a:r>
              <a:rPr lang="en-US" sz="36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sz="36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monthly_sales</a:t>
            </a:r>
            <a:r>
              <a:rPr lang="en-US" sz="36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=('</a:t>
            </a:r>
            <a:r>
              <a:rPr lang="en-US" sz="36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total_sales</a:t>
            </a:r>
            <a:r>
              <a:rPr lang="en-US" sz="36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’,</a:t>
            </a:r>
          </a:p>
          <a:p>
            <a:r>
              <a:rPr lang="en-US" sz="36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'sum')).</a:t>
            </a:r>
            <a:r>
              <a:rPr lang="en-US" sz="36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reset_index</a:t>
            </a:r>
            <a:r>
              <a:rPr lang="en-US" sz="36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()</a:t>
            </a:r>
          </a:p>
          <a:p>
            <a:r>
              <a:rPr lang="en-US" sz="36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monthly_sales</a:t>
            </a:r>
            <a:r>
              <a:rPr lang="en-US" sz="36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</a:t>
            </a:r>
            <a:r>
              <a:rPr lang="en-US" sz="36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monthly_sales.sort_values</a:t>
            </a:r>
            <a:r>
              <a:rPr lang="en-US" sz="36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(by=['year', 'month'])</a:t>
            </a:r>
          </a:p>
          <a:p>
            <a:r>
              <a:rPr lang="en-US" sz="36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monthly_sales</a:t>
            </a:r>
            <a:r>
              <a:rPr lang="en-US" sz="36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['</a:t>
            </a:r>
            <a:r>
              <a:rPr lang="en-US" sz="36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cumulative_sales</a:t>
            </a:r>
            <a:r>
              <a:rPr lang="en-US" sz="36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'] = </a:t>
            </a:r>
            <a:r>
              <a:rPr lang="en-US" sz="36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monthly_sales.groupby</a:t>
            </a:r>
            <a:r>
              <a:rPr lang="en-US" sz="36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('year')['</a:t>
            </a:r>
            <a:r>
              <a:rPr lang="en-US" sz="36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monthly_sales</a:t>
            </a:r>
            <a:r>
              <a:rPr lang="en-US" sz="36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'].</a:t>
            </a:r>
            <a:r>
              <a:rPr lang="en-US" sz="36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cumsum</a:t>
            </a:r>
            <a:r>
              <a:rPr lang="en-US" sz="36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()</a:t>
            </a:r>
          </a:p>
          <a:p>
            <a:r>
              <a:rPr lang="en-US" sz="36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print("\</a:t>
            </a:r>
            <a:r>
              <a:rPr lang="en-US" sz="36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nCumulative</a:t>
            </a:r>
            <a:r>
              <a:rPr lang="en-US" sz="36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Sales per Month for Each Year:")</a:t>
            </a:r>
          </a:p>
        </p:txBody>
      </p:sp>
      <p:pic>
        <p:nvPicPr>
          <p:cNvPr id="8" name="Content Placeholder 7" descr="A screenshot of a graph&#10;&#10;AI-generated content may be incorrect.">
            <a:extLst>
              <a:ext uri="{FF2B5EF4-FFF2-40B4-BE49-F238E27FC236}">
                <a16:creationId xmlns:a16="http://schemas.microsoft.com/office/drawing/2014/main" id="{6116BF39-C77D-1778-20BC-8EAB40D693B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1309" y="5029200"/>
            <a:ext cx="4934744" cy="1738312"/>
          </a:xfr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9FD9A0E-B221-6ECE-468C-B784BB5F6F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349830"/>
            <a:ext cx="5183188" cy="2503192"/>
          </a:xfrm>
        </p:spPr>
        <p:txBody>
          <a:bodyPr>
            <a:noAutofit/>
          </a:bodyPr>
          <a:lstStyle/>
          <a:p>
            <a:r>
              <a: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SQL Code:</a:t>
            </a:r>
          </a:p>
          <a:p>
            <a:r>
              <a:rPr lang="en-US" sz="11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WITH </a:t>
            </a:r>
            <a:r>
              <a:rPr lang="en-US" sz="11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MonthlySales</a:t>
            </a:r>
            <a:r>
              <a:rPr lang="en-US" sz="11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AS ( SELECT</a:t>
            </a:r>
          </a:p>
          <a:p>
            <a:r>
              <a:rPr lang="en-US" sz="11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DATE_FORMAT(T1.order_purchase_timestamp, '%Y') AS </a:t>
            </a:r>
            <a:r>
              <a:rPr lang="en-US" sz="11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order_year</a:t>
            </a:r>
            <a:r>
              <a:rPr lang="en-US" sz="11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</a:p>
          <a:p>
            <a:r>
              <a:rPr lang="en-US" sz="11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DATE_FORMAT(T1.order_purchase_timestamp, '%Y-%m') AS </a:t>
            </a:r>
            <a:r>
              <a:rPr lang="en-US" sz="11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order_month</a:t>
            </a:r>
            <a:r>
              <a:rPr lang="en-US" sz="11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</a:p>
          <a:p>
            <a:r>
              <a:rPr lang="en-US" sz="11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SUM(T2.price) AS </a:t>
            </a:r>
            <a:r>
              <a:rPr lang="en-US" sz="11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monthly_sales</a:t>
            </a:r>
            <a:r>
              <a:rPr lang="en-US" sz="11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FROM orders AS T1 JOIN </a:t>
            </a:r>
            <a:r>
              <a:rPr lang="en-US" sz="11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order_items</a:t>
            </a:r>
            <a:r>
              <a:rPr lang="en-US" sz="11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AS T2</a:t>
            </a:r>
          </a:p>
          <a:p>
            <a:r>
              <a:rPr lang="en-US" sz="11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ON T1.order_id = T2.order_id GROUP BY </a:t>
            </a:r>
            <a:r>
              <a:rPr lang="en-US" sz="11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order_year</a:t>
            </a:r>
            <a:r>
              <a:rPr lang="en-US" sz="11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1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order_month</a:t>
            </a:r>
            <a:r>
              <a:rPr lang="en-US" sz="11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) SELECT</a:t>
            </a:r>
          </a:p>
          <a:p>
            <a:r>
              <a:rPr lang="en-US" sz="11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1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order_year</a:t>
            </a:r>
            <a:r>
              <a:rPr lang="en-US" sz="11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1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order_month</a:t>
            </a:r>
            <a:r>
              <a:rPr lang="en-US" sz="11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1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monthly_sales</a:t>
            </a:r>
            <a:r>
              <a:rPr lang="en-US" sz="11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SUM(</a:t>
            </a:r>
            <a:r>
              <a:rPr lang="en-US" sz="11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monthly_sales</a:t>
            </a:r>
            <a:r>
              <a:rPr lang="en-US" sz="11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OVER (</a:t>
            </a:r>
          </a:p>
          <a:p>
            <a:r>
              <a:rPr lang="en-US" sz="11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PARTITION BY </a:t>
            </a:r>
            <a:r>
              <a:rPr lang="en-US" sz="11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order_year</a:t>
            </a:r>
            <a:r>
              <a:rPr lang="en-US" sz="11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ORDER BY </a:t>
            </a:r>
            <a:r>
              <a:rPr lang="en-US" sz="11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order_month</a:t>
            </a:r>
            <a:r>
              <a:rPr lang="en-US" sz="11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) AS </a:t>
            </a:r>
            <a:r>
              <a:rPr lang="en-US" sz="11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cumulative_sales</a:t>
            </a:r>
            <a:r>
              <a:rPr lang="en-US" sz="11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FROM</a:t>
            </a:r>
          </a:p>
          <a:p>
            <a:r>
              <a:rPr lang="en-US" sz="11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1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MonthlySales</a:t>
            </a:r>
            <a:r>
              <a:rPr lang="en-US" sz="11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ORDER BY </a:t>
            </a:r>
            <a:r>
              <a:rPr lang="en-US" sz="11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order_year</a:t>
            </a:r>
            <a:r>
              <a:rPr lang="en-US" sz="11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1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order_month</a:t>
            </a:r>
            <a:r>
              <a:rPr lang="en-US" sz="11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;</a:t>
            </a:r>
          </a:p>
        </p:txBody>
      </p:sp>
      <p:pic>
        <p:nvPicPr>
          <p:cNvPr id="10" name="Content Placeholder 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A7253DB-A598-1085-5471-956D24CDDD82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4427" y="4125039"/>
            <a:ext cx="4934744" cy="2171859"/>
          </a:xfrm>
        </p:spPr>
      </p:pic>
    </p:spTree>
    <p:extLst>
      <p:ext uri="{BB962C8B-B14F-4D97-AF65-F5344CB8AC3E}">
        <p14:creationId xmlns:p14="http://schemas.microsoft.com/office/powerpoint/2010/main" val="16701163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DBD015-F077-C2E3-4D16-3B421CFFA8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365126"/>
            <a:ext cx="11212286" cy="745218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 Calculate the year-over-year growth rate of total sales.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F5CB92-181F-850B-340A-61FC5001E1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110344"/>
            <a:ext cx="5157787" cy="3629999"/>
          </a:xfrm>
        </p:spPr>
        <p:txBody>
          <a:bodyPr>
            <a:normAutofit fontScale="47500" lnSpcReduction="20000"/>
          </a:bodyPr>
          <a:lstStyle/>
          <a:p>
            <a:r>
              <a:rPr lang="en-US" sz="23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Python Code:</a:t>
            </a:r>
          </a:p>
          <a:p>
            <a:r>
              <a:rPr lang="en-US" sz="23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orders_df</a:t>
            </a:r>
            <a:r>
              <a:rPr lang="en-US" sz="23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</a:t>
            </a:r>
            <a:r>
              <a:rPr lang="en-US" sz="23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pd.read_csv</a:t>
            </a:r>
            <a:r>
              <a:rPr lang="en-US" sz="23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('orders.csv')</a:t>
            </a:r>
          </a:p>
          <a:p>
            <a:r>
              <a:rPr lang="en-US" sz="23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order_items_df</a:t>
            </a:r>
            <a:r>
              <a:rPr lang="en-US" sz="23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</a:t>
            </a:r>
            <a:r>
              <a:rPr lang="en-US" sz="23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pd.read_csv</a:t>
            </a:r>
            <a:r>
              <a:rPr lang="en-US" sz="23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('order_items.csv')</a:t>
            </a:r>
          </a:p>
          <a:p>
            <a:r>
              <a:rPr lang="en-US" sz="23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order_sales</a:t>
            </a:r>
            <a:r>
              <a:rPr lang="en-US" sz="23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</a:t>
            </a:r>
            <a:r>
              <a:rPr lang="en-US" sz="23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order_items_df.groupby</a:t>
            </a:r>
            <a:r>
              <a:rPr lang="en-US" sz="23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('</a:t>
            </a:r>
            <a:r>
              <a:rPr lang="en-US" sz="23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order_id</a:t>
            </a:r>
            <a:r>
              <a:rPr lang="en-US" sz="23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').</a:t>
            </a:r>
            <a:r>
              <a:rPr lang="en-US" sz="23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agg</a:t>
            </a:r>
            <a:r>
              <a:rPr lang="en-US" sz="23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sz="23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total_sales</a:t>
            </a:r>
            <a:r>
              <a:rPr lang="en-US" sz="23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=('price', 'sum')).</a:t>
            </a:r>
            <a:r>
              <a:rPr lang="en-US" sz="23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reset_index</a:t>
            </a:r>
            <a:r>
              <a:rPr lang="en-US" sz="23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()</a:t>
            </a:r>
          </a:p>
          <a:p>
            <a:r>
              <a:rPr lang="en-US" sz="23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order_sales_with_date</a:t>
            </a:r>
            <a:r>
              <a:rPr lang="en-US" sz="23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</a:t>
            </a:r>
            <a:r>
              <a:rPr lang="en-US" sz="23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pd.merge</a:t>
            </a:r>
            <a:r>
              <a:rPr lang="en-US" sz="23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sz="23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orders_df</a:t>
            </a:r>
            <a:r>
              <a:rPr lang="en-US" sz="23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[['</a:t>
            </a:r>
            <a:r>
              <a:rPr lang="en-US" sz="23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order_id</a:t>
            </a:r>
            <a:r>
              <a:rPr lang="en-US" sz="23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', '</a:t>
            </a:r>
            <a:r>
              <a:rPr lang="en-US" sz="23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order_purchase_timestamp</a:t>
            </a:r>
            <a:r>
              <a:rPr lang="en-US" sz="23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']], </a:t>
            </a:r>
            <a:r>
              <a:rPr lang="en-US" sz="23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order_sales</a:t>
            </a:r>
            <a:r>
              <a:rPr lang="en-US" sz="23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on='</a:t>
            </a:r>
            <a:r>
              <a:rPr lang="en-US" sz="23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order_id</a:t>
            </a:r>
            <a:r>
              <a:rPr lang="en-US" sz="23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')</a:t>
            </a:r>
          </a:p>
          <a:p>
            <a:r>
              <a:rPr lang="en-US" sz="23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order_sales_with_date</a:t>
            </a:r>
            <a:r>
              <a:rPr lang="en-US" sz="23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['</a:t>
            </a:r>
            <a:r>
              <a:rPr lang="en-US" sz="23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order_purchase_timestamp</a:t>
            </a:r>
            <a:r>
              <a:rPr lang="en-US" sz="23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'] = </a:t>
            </a:r>
            <a:r>
              <a:rPr lang="en-US" sz="23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pd.to_datetime</a:t>
            </a:r>
            <a:r>
              <a:rPr lang="en-US" sz="23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sz="23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order_sales_with_date</a:t>
            </a:r>
            <a:r>
              <a:rPr lang="en-US" sz="23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['</a:t>
            </a:r>
            <a:r>
              <a:rPr lang="en-US" sz="23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order_purchase_timestamp</a:t>
            </a:r>
            <a:r>
              <a:rPr lang="en-US" sz="23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'])</a:t>
            </a:r>
          </a:p>
          <a:p>
            <a:r>
              <a:rPr lang="en-US" sz="23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order_sales_with_date</a:t>
            </a:r>
            <a:r>
              <a:rPr lang="en-US" sz="23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['year'] = </a:t>
            </a:r>
            <a:r>
              <a:rPr lang="en-US" sz="23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order_sales_with_date</a:t>
            </a:r>
            <a:r>
              <a:rPr lang="en-US" sz="23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['</a:t>
            </a:r>
            <a:r>
              <a:rPr lang="en-US" sz="23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order_purchase_timestamp</a:t>
            </a:r>
            <a:r>
              <a:rPr lang="en-US" sz="23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'].</a:t>
            </a:r>
            <a:r>
              <a:rPr lang="en-US" sz="23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dt.year</a:t>
            </a:r>
            <a:endParaRPr lang="en-US" sz="2300" b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3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annual_sales</a:t>
            </a:r>
            <a:r>
              <a:rPr lang="en-US" sz="23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</a:t>
            </a:r>
            <a:r>
              <a:rPr lang="en-US" sz="23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order_sales_with_date.groupby</a:t>
            </a:r>
            <a:r>
              <a:rPr lang="en-US" sz="23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('year')['</a:t>
            </a:r>
            <a:r>
              <a:rPr lang="en-US" sz="23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total_sales</a:t>
            </a:r>
            <a:r>
              <a:rPr lang="en-US" sz="23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'].sum().</a:t>
            </a:r>
            <a:r>
              <a:rPr lang="en-US" sz="23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reset_index</a:t>
            </a:r>
            <a:r>
              <a:rPr lang="en-US" sz="23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()</a:t>
            </a:r>
          </a:p>
          <a:p>
            <a:r>
              <a:rPr lang="en-US" sz="23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annual_sales</a:t>
            </a:r>
            <a:r>
              <a:rPr lang="en-US" sz="23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['</a:t>
            </a:r>
            <a:r>
              <a:rPr lang="en-US" sz="23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YoY_Growth_Rate</a:t>
            </a:r>
            <a:r>
              <a:rPr lang="en-US" sz="23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'] = </a:t>
            </a:r>
            <a:r>
              <a:rPr lang="en-US" sz="23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annual_sales</a:t>
            </a:r>
            <a:r>
              <a:rPr lang="en-US" sz="23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['</a:t>
            </a:r>
            <a:r>
              <a:rPr lang="en-US" sz="23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total_sales</a:t>
            </a:r>
            <a:r>
              <a:rPr lang="en-US" sz="23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'].</a:t>
            </a:r>
            <a:r>
              <a:rPr lang="en-US" sz="23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pct_change</a:t>
            </a:r>
            <a:r>
              <a:rPr lang="en-US" sz="23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() * 100</a:t>
            </a:r>
          </a:p>
          <a:p>
            <a:r>
              <a:rPr lang="en-US" sz="23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print("\</a:t>
            </a:r>
            <a:r>
              <a:rPr lang="en-US" sz="23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nAnnual</a:t>
            </a:r>
            <a:r>
              <a:rPr lang="en-US" sz="23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Sales and Year-over-Year Growth Rate:")</a:t>
            </a:r>
          </a:p>
          <a:p>
            <a:r>
              <a:rPr lang="en-US" sz="23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print(</a:t>
            </a:r>
            <a:r>
              <a:rPr lang="en-US" sz="23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annual_sales</a:t>
            </a:r>
            <a:r>
              <a:rPr lang="en-US" sz="23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r>
              <a:rPr lang="en-US" sz="23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annual_sales.to_csv</a:t>
            </a:r>
            <a:r>
              <a:rPr lang="en-US" sz="23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('year_over_year_growth_rate.csv', index=False)</a:t>
            </a:r>
          </a:p>
          <a:p>
            <a:endParaRPr lang="en-US" sz="1100" b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8" name="Content Placeholder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BA09C5E-6ADE-C3B5-E0C3-EC197C8B7C9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1102" y="4740343"/>
            <a:ext cx="4302011" cy="1478280"/>
          </a:xfr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5635369-8E6C-6E50-A434-F2CBBD02E4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110344"/>
            <a:ext cx="5183188" cy="2057399"/>
          </a:xfrm>
        </p:spPr>
        <p:txBody>
          <a:bodyPr>
            <a:normAutofit fontScale="47500" lnSpcReduction="20000"/>
          </a:bodyPr>
          <a:lstStyle/>
          <a:p>
            <a:r>
              <a:rPr lang="en-US" sz="23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SQL Code</a:t>
            </a:r>
            <a:r>
              <a:rPr lang="en-US" dirty="0"/>
              <a:t>:</a:t>
            </a:r>
          </a:p>
          <a:p>
            <a:r>
              <a:rPr lang="en-US" b="0" dirty="0"/>
              <a:t>SELECT YEAR(T1.order_purchase_timestamp) AS </a:t>
            </a:r>
            <a:r>
              <a:rPr lang="en-US" b="0" dirty="0" err="1"/>
              <a:t>order_year</a:t>
            </a:r>
            <a:r>
              <a:rPr lang="en-US" b="0" dirty="0"/>
              <a:t>, SUM(T2.price) AS</a:t>
            </a:r>
          </a:p>
          <a:p>
            <a:r>
              <a:rPr lang="en-US" b="0" dirty="0"/>
              <a:t> </a:t>
            </a:r>
            <a:r>
              <a:rPr lang="en-US" b="0" dirty="0" err="1"/>
              <a:t>yearly_sales</a:t>
            </a:r>
            <a:r>
              <a:rPr lang="en-US" b="0" dirty="0"/>
              <a:t> FROM orders AS T1 JOIN </a:t>
            </a:r>
            <a:r>
              <a:rPr lang="en-US" b="0" dirty="0" err="1"/>
              <a:t>order_items</a:t>
            </a:r>
            <a:r>
              <a:rPr lang="en-US" b="0" dirty="0"/>
              <a:t> AS T2 ON T1.order_id =</a:t>
            </a:r>
          </a:p>
          <a:p>
            <a:r>
              <a:rPr lang="en-US" b="0" dirty="0"/>
              <a:t> T2.order_id GROUP BY </a:t>
            </a:r>
            <a:r>
              <a:rPr lang="en-US" b="0" dirty="0" err="1"/>
              <a:t>order_year</a:t>
            </a:r>
            <a:r>
              <a:rPr lang="en-US" b="0" dirty="0"/>
              <a:t> ) SELECT </a:t>
            </a:r>
            <a:r>
              <a:rPr lang="en-US" b="0" dirty="0" err="1"/>
              <a:t>order_year</a:t>
            </a:r>
            <a:r>
              <a:rPr lang="en-US" b="0" dirty="0"/>
              <a:t>, </a:t>
            </a:r>
            <a:r>
              <a:rPr lang="en-US" b="0" dirty="0" err="1"/>
              <a:t>yearly_sales</a:t>
            </a:r>
            <a:r>
              <a:rPr lang="en-US" b="0" dirty="0"/>
              <a:t>, (</a:t>
            </a:r>
          </a:p>
          <a:p>
            <a:r>
              <a:rPr lang="en-US" b="0" dirty="0"/>
              <a:t> (</a:t>
            </a:r>
            <a:r>
              <a:rPr lang="en-US" b="0" dirty="0" err="1"/>
              <a:t>yearly_sales</a:t>
            </a:r>
            <a:r>
              <a:rPr lang="en-US" b="0" dirty="0"/>
              <a:t> - LAG(</a:t>
            </a:r>
            <a:r>
              <a:rPr lang="en-US" b="0" dirty="0" err="1"/>
              <a:t>yearly_sales</a:t>
            </a:r>
            <a:r>
              <a:rPr lang="en-US" b="0" dirty="0"/>
              <a:t>) OVER ( ORDER BY </a:t>
            </a:r>
            <a:r>
              <a:rPr lang="en-US" b="0" dirty="0" err="1"/>
              <a:t>order_year</a:t>
            </a:r>
            <a:r>
              <a:rPr lang="en-US" b="0" dirty="0"/>
              <a:t> )) /</a:t>
            </a:r>
          </a:p>
          <a:p>
            <a:r>
              <a:rPr lang="en-US" b="0" dirty="0"/>
              <a:t> LAG(</a:t>
            </a:r>
            <a:r>
              <a:rPr lang="en-US" b="0" dirty="0" err="1"/>
              <a:t>yearly_sales</a:t>
            </a:r>
            <a:r>
              <a:rPr lang="en-US" b="0" dirty="0"/>
              <a:t>) OVER ( ORDER BY </a:t>
            </a:r>
            <a:r>
              <a:rPr lang="en-US" b="0" dirty="0" err="1"/>
              <a:t>order_year</a:t>
            </a:r>
            <a:r>
              <a:rPr lang="en-US" b="0" dirty="0"/>
              <a:t> ) ) * 100 AS</a:t>
            </a:r>
          </a:p>
          <a:p>
            <a:r>
              <a:rPr lang="en-US" b="0" dirty="0"/>
              <a:t> </a:t>
            </a:r>
            <a:r>
              <a:rPr lang="en-US" b="0" dirty="0" err="1"/>
              <a:t>yoy_growth_rate_percentage</a:t>
            </a:r>
            <a:r>
              <a:rPr lang="en-US" b="0" dirty="0"/>
              <a:t> FROM </a:t>
            </a:r>
            <a:r>
              <a:rPr lang="en-US" b="0" dirty="0" err="1"/>
              <a:t>AnnualSales</a:t>
            </a:r>
            <a:r>
              <a:rPr lang="en-US" b="0" dirty="0"/>
              <a:t> ORDER BY </a:t>
            </a:r>
            <a:r>
              <a:rPr lang="en-US" b="0" dirty="0" err="1"/>
              <a:t>order_year</a:t>
            </a:r>
            <a:r>
              <a:rPr lang="en-US" b="0" dirty="0"/>
              <a:t>;</a:t>
            </a:r>
          </a:p>
        </p:txBody>
      </p:sp>
      <p:pic>
        <p:nvPicPr>
          <p:cNvPr id="10" name="Content Placeholder 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D9B29F9-572E-7148-40D1-42DF7CA9B13A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5884" y="4504123"/>
            <a:ext cx="4655820" cy="1714500"/>
          </a:xfrm>
        </p:spPr>
      </p:pic>
    </p:spTree>
    <p:extLst>
      <p:ext uri="{BB962C8B-B14F-4D97-AF65-F5344CB8AC3E}">
        <p14:creationId xmlns:p14="http://schemas.microsoft.com/office/powerpoint/2010/main" val="4805897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D43B52-3184-C826-2022-43A4276A27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771" y="312281"/>
            <a:ext cx="11538857" cy="925287"/>
          </a:xfrm>
        </p:spPr>
        <p:txBody>
          <a:bodyPr>
            <a:noAutofit/>
          </a:bodyPr>
          <a:lstStyle/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4. Calculate the retention rate of customers, defined as the percentage of customers who make another purchase within 6 months of their first purchase.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1D20D7-047F-B53E-1386-89F265F6AD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979714"/>
            <a:ext cx="5157787" cy="5016900"/>
          </a:xfrm>
        </p:spPr>
        <p:txBody>
          <a:bodyPr>
            <a:normAutofit fontScale="25000" lnSpcReduction="20000"/>
          </a:bodyPr>
          <a:lstStyle/>
          <a:p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Python code:</a:t>
            </a:r>
          </a:p>
          <a:p>
            <a:r>
              <a:rPr lang="en-US" sz="36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import pandas as pd</a:t>
            </a:r>
          </a:p>
          <a:p>
            <a:r>
              <a:rPr lang="en-US" sz="36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from datetime import </a:t>
            </a:r>
            <a:r>
              <a:rPr lang="en-US" sz="36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timedelta</a:t>
            </a:r>
            <a:endParaRPr lang="en-US" sz="3600" b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36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orders_df</a:t>
            </a:r>
            <a:r>
              <a:rPr lang="en-US" sz="36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</a:t>
            </a:r>
            <a:r>
              <a:rPr lang="en-US" sz="36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pd.read_csv</a:t>
            </a:r>
            <a:r>
              <a:rPr lang="en-US" sz="36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('orders.csv')</a:t>
            </a:r>
          </a:p>
          <a:p>
            <a:r>
              <a:rPr lang="en-US" sz="36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customers_df</a:t>
            </a:r>
            <a:r>
              <a:rPr lang="en-US" sz="36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</a:t>
            </a:r>
            <a:r>
              <a:rPr lang="en-US" sz="36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pd.read_csv</a:t>
            </a:r>
            <a:r>
              <a:rPr lang="en-US" sz="36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('Customers.csv')</a:t>
            </a:r>
          </a:p>
          <a:p>
            <a:r>
              <a:rPr lang="en-US" sz="36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merged_df</a:t>
            </a:r>
            <a:r>
              <a:rPr lang="en-US" sz="36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</a:t>
            </a:r>
            <a:r>
              <a:rPr lang="en-US" sz="36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pd.merge</a:t>
            </a:r>
            <a:r>
              <a:rPr lang="en-US" sz="36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sz="36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orders_df</a:t>
            </a:r>
            <a:r>
              <a:rPr lang="en-US" sz="36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36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customers_df</a:t>
            </a:r>
            <a:r>
              <a:rPr lang="en-US" sz="36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on='</a:t>
            </a:r>
            <a:r>
              <a:rPr lang="en-US" sz="36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customer_id</a:t>
            </a:r>
            <a:r>
              <a:rPr lang="en-US" sz="36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', how='inner')</a:t>
            </a:r>
          </a:p>
          <a:p>
            <a:r>
              <a:rPr lang="en-US" sz="36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merged_df</a:t>
            </a:r>
            <a:r>
              <a:rPr lang="en-US" sz="36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['</a:t>
            </a:r>
            <a:r>
              <a:rPr lang="en-US" sz="36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order_purchase_timestamp</a:t>
            </a:r>
            <a:r>
              <a:rPr lang="en-US" sz="36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'] = </a:t>
            </a:r>
            <a:r>
              <a:rPr lang="en-US" sz="36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pd.to_datetime</a:t>
            </a:r>
            <a:r>
              <a:rPr lang="en-US" sz="36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sz="36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merged_df</a:t>
            </a:r>
            <a:r>
              <a:rPr lang="en-US" sz="36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['</a:t>
            </a:r>
            <a:r>
              <a:rPr lang="en-US" sz="36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order_purchase_timestamp</a:t>
            </a:r>
            <a:r>
              <a:rPr lang="en-US" sz="36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'])</a:t>
            </a:r>
          </a:p>
          <a:p>
            <a:r>
              <a:rPr lang="en-US" sz="36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merged_df.sort_values</a:t>
            </a:r>
            <a:r>
              <a:rPr lang="en-US" sz="36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(by=['</a:t>
            </a:r>
            <a:r>
              <a:rPr lang="en-US" sz="36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customer_unique_id</a:t>
            </a:r>
            <a:r>
              <a:rPr lang="en-US" sz="36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', '</a:t>
            </a:r>
            <a:r>
              <a:rPr lang="en-US" sz="36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order_purchase_timestamp</a:t>
            </a:r>
            <a:r>
              <a:rPr lang="en-US" sz="36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'], </a:t>
            </a:r>
            <a:r>
              <a:rPr lang="en-US" sz="36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inplace</a:t>
            </a:r>
            <a:r>
              <a:rPr lang="en-US" sz="36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=True)</a:t>
            </a:r>
          </a:p>
          <a:p>
            <a:r>
              <a:rPr lang="en-US" sz="36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purchase_dates</a:t>
            </a:r>
            <a:r>
              <a:rPr lang="en-US" sz="36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</a:t>
            </a:r>
            <a:r>
              <a:rPr lang="en-US" sz="36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merged_df.groupby</a:t>
            </a:r>
            <a:r>
              <a:rPr lang="en-US" sz="36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('</a:t>
            </a:r>
            <a:r>
              <a:rPr lang="en-US" sz="36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customer_unique_id</a:t>
            </a:r>
            <a:r>
              <a:rPr lang="en-US" sz="36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')['</a:t>
            </a:r>
            <a:r>
              <a:rPr lang="en-US" sz="36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order_purchase_timestamp</a:t>
            </a:r>
            <a:r>
              <a:rPr lang="en-US" sz="36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'].apply(list)</a:t>
            </a:r>
          </a:p>
          <a:p>
            <a:r>
              <a:rPr lang="en-US" sz="36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retained_customers_data</a:t>
            </a:r>
            <a:r>
              <a:rPr lang="en-US" sz="36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</a:t>
            </a:r>
            <a:r>
              <a:rPr lang="en-US" sz="36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purchase_dates</a:t>
            </a:r>
            <a:r>
              <a:rPr lang="en-US" sz="36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[</a:t>
            </a:r>
            <a:r>
              <a:rPr lang="en-US" sz="36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purchase_dates.apply</a:t>
            </a:r>
            <a:r>
              <a:rPr lang="en-US" sz="36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sz="36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len</a:t>
            </a:r>
            <a:r>
              <a:rPr lang="en-US" sz="36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&gt; 1].</a:t>
            </a:r>
            <a:r>
              <a:rPr lang="en-US" sz="36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reset_index</a:t>
            </a:r>
            <a:r>
              <a:rPr lang="en-US" sz="36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()</a:t>
            </a:r>
          </a:p>
          <a:p>
            <a:r>
              <a:rPr lang="en-US" sz="36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retained_customers_data</a:t>
            </a:r>
            <a:r>
              <a:rPr lang="en-US" sz="36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['</a:t>
            </a:r>
            <a:r>
              <a:rPr lang="en-US" sz="36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first_purchase</a:t>
            </a:r>
            <a:r>
              <a:rPr lang="en-US" sz="36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'] = </a:t>
            </a:r>
            <a:r>
              <a:rPr lang="en-US" sz="36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retained_customers_data</a:t>
            </a:r>
            <a:r>
              <a:rPr lang="en-US" sz="36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['</a:t>
            </a:r>
            <a:r>
              <a:rPr lang="en-US" sz="36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order_purchase_timestamp</a:t>
            </a:r>
            <a:r>
              <a:rPr lang="en-US" sz="36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'].apply(lambda x: x[0])</a:t>
            </a:r>
          </a:p>
          <a:p>
            <a:r>
              <a:rPr lang="en-US" sz="36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retained_customers_data</a:t>
            </a:r>
            <a:r>
              <a:rPr lang="en-US" sz="36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['</a:t>
            </a:r>
            <a:r>
              <a:rPr lang="en-US" sz="36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second_purchase</a:t>
            </a:r>
            <a:r>
              <a:rPr lang="en-US" sz="36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'] = </a:t>
            </a:r>
            <a:r>
              <a:rPr lang="en-US" sz="36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retained_customers_data</a:t>
            </a:r>
            <a:r>
              <a:rPr lang="en-US" sz="36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['</a:t>
            </a:r>
            <a:r>
              <a:rPr lang="en-US" sz="36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order_purchase_timestamp</a:t>
            </a:r>
            <a:r>
              <a:rPr lang="en-US" sz="36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'].apply(lambda x: x[1])</a:t>
            </a:r>
          </a:p>
          <a:p>
            <a:r>
              <a:rPr lang="en-US" sz="36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retained_customers_data</a:t>
            </a:r>
            <a:r>
              <a:rPr lang="en-US" sz="36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['</a:t>
            </a:r>
            <a:r>
              <a:rPr lang="en-US" sz="36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time_to_second_purchase</a:t>
            </a:r>
            <a:r>
              <a:rPr lang="en-US" sz="36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'] = </a:t>
            </a:r>
            <a:r>
              <a:rPr lang="en-US" sz="36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retained_customers_data</a:t>
            </a:r>
            <a:r>
              <a:rPr lang="en-US" sz="36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['</a:t>
            </a:r>
            <a:r>
              <a:rPr lang="en-US" sz="36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second_purchase</a:t>
            </a:r>
            <a:r>
              <a:rPr lang="en-US" sz="36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'] - </a:t>
            </a:r>
            <a:r>
              <a:rPr lang="en-US" sz="36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retained_customers_data</a:t>
            </a:r>
            <a:r>
              <a:rPr lang="en-US" sz="36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['</a:t>
            </a:r>
            <a:r>
              <a:rPr lang="en-US" sz="36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first_purchase</a:t>
            </a:r>
            <a:r>
              <a:rPr lang="en-US" sz="36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']</a:t>
            </a:r>
          </a:p>
          <a:p>
            <a:r>
              <a:rPr lang="en-US" sz="36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six_months</a:t>
            </a:r>
            <a:r>
              <a:rPr lang="en-US" sz="36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</a:t>
            </a:r>
            <a:r>
              <a:rPr lang="en-US" sz="36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timedelta</a:t>
            </a:r>
            <a:r>
              <a:rPr lang="en-US" sz="36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(days=180)</a:t>
            </a:r>
          </a:p>
          <a:p>
            <a:r>
              <a:rPr lang="en-US" sz="36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retained_count</a:t>
            </a:r>
            <a:r>
              <a:rPr lang="en-US" sz="36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(</a:t>
            </a:r>
            <a:r>
              <a:rPr lang="en-US" sz="36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retained_customers_data</a:t>
            </a:r>
            <a:r>
              <a:rPr lang="en-US" sz="36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['</a:t>
            </a:r>
            <a:r>
              <a:rPr lang="en-US" sz="36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time_to_second_purchase</a:t>
            </a:r>
            <a:r>
              <a:rPr lang="en-US" sz="36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'] &lt;= </a:t>
            </a:r>
            <a:r>
              <a:rPr lang="en-US" sz="36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six_months</a:t>
            </a:r>
            <a:r>
              <a:rPr lang="en-US" sz="36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).sum()</a:t>
            </a:r>
          </a:p>
          <a:p>
            <a:r>
              <a:rPr lang="en-US" sz="36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total_retained_customers</a:t>
            </a:r>
            <a:r>
              <a:rPr lang="en-US" sz="36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</a:t>
            </a:r>
            <a:r>
              <a:rPr lang="en-US" sz="36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len</a:t>
            </a:r>
            <a:r>
              <a:rPr lang="en-US" sz="36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sz="36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retained_customers_data</a:t>
            </a:r>
            <a:r>
              <a:rPr lang="en-US" sz="36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r>
              <a:rPr lang="en-US" sz="36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retention_rate</a:t>
            </a:r>
            <a:r>
              <a:rPr lang="en-US" sz="36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(</a:t>
            </a:r>
            <a:r>
              <a:rPr lang="en-US" sz="36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retained_count</a:t>
            </a:r>
            <a:r>
              <a:rPr lang="en-US" sz="36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/ </a:t>
            </a:r>
            <a:r>
              <a:rPr lang="en-US" sz="36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total_retained_customers</a:t>
            </a:r>
            <a:r>
              <a:rPr lang="en-US" sz="36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* 100</a:t>
            </a:r>
          </a:p>
          <a:p>
            <a:r>
              <a:rPr lang="en-US" sz="36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print(</a:t>
            </a:r>
            <a:r>
              <a:rPr lang="en-US" sz="36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f"Total</a:t>
            </a:r>
            <a:r>
              <a:rPr lang="en-US" sz="36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customers who made at least two purchases: {</a:t>
            </a:r>
            <a:r>
              <a:rPr lang="en-US" sz="36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total_retained_customers</a:t>
            </a:r>
            <a:r>
              <a:rPr lang="en-US" sz="36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}")</a:t>
            </a:r>
          </a:p>
          <a:p>
            <a:r>
              <a:rPr lang="en-US" sz="36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print(</a:t>
            </a:r>
            <a:r>
              <a:rPr lang="en-US" sz="36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f"Customers</a:t>
            </a:r>
            <a:r>
              <a:rPr lang="en-US" sz="36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who made a second purchase within 6 months: {</a:t>
            </a:r>
            <a:r>
              <a:rPr lang="en-US" sz="36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retained_count</a:t>
            </a:r>
            <a:r>
              <a:rPr lang="en-US" sz="36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}")</a:t>
            </a:r>
          </a:p>
          <a:p>
            <a:r>
              <a:rPr lang="en-US" sz="36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print(</a:t>
            </a:r>
            <a:r>
              <a:rPr lang="en-US" sz="36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f"Customer</a:t>
            </a:r>
            <a:r>
              <a:rPr lang="en-US" sz="36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Retention Rate (within 6 months): {retention_rate:.2f}%")</a:t>
            </a:r>
          </a:p>
          <a:p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E83D3AF-4DCA-D184-4810-EE1ED96C7B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523999"/>
            <a:ext cx="5183188" cy="3156857"/>
          </a:xfrm>
        </p:spPr>
        <p:txBody>
          <a:bodyPr>
            <a:normAutofit fontScale="25000" lnSpcReduction="20000"/>
          </a:bodyPr>
          <a:lstStyle/>
          <a:p>
            <a:r>
              <a:rPr lang="en-US" sz="4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SQL Code:</a:t>
            </a:r>
          </a:p>
          <a:p>
            <a:r>
              <a:rPr lang="en-US" sz="4400" b="0" dirty="0"/>
              <a:t>WITH </a:t>
            </a:r>
            <a:r>
              <a:rPr lang="en-US" sz="4400" b="0" dirty="0" err="1"/>
              <a:t>CustomerOrders</a:t>
            </a:r>
            <a:r>
              <a:rPr lang="en-US" sz="4400" b="0" dirty="0"/>
              <a:t> AS ( SELECT T1.customer_unique_id,</a:t>
            </a:r>
          </a:p>
          <a:p>
            <a:r>
              <a:rPr lang="en-US" sz="4400" b="0" dirty="0"/>
              <a:t> T2.order_purchase_timestamp FROM Customers AS T1 JOIN orders AS T2 ON</a:t>
            </a:r>
          </a:p>
          <a:p>
            <a:r>
              <a:rPr lang="en-US" sz="4400" b="0" dirty="0"/>
              <a:t> T1.customer_id = T2.customer_id ), </a:t>
            </a:r>
            <a:r>
              <a:rPr lang="en-US" sz="4400" b="0" dirty="0" err="1"/>
              <a:t>FirstPurchaseDates</a:t>
            </a:r>
            <a:r>
              <a:rPr lang="en-US" sz="4400" b="0" dirty="0"/>
              <a:t> AS ( SELECT</a:t>
            </a:r>
          </a:p>
          <a:p>
            <a:r>
              <a:rPr lang="en-US" sz="4400" b="0" dirty="0"/>
              <a:t> </a:t>
            </a:r>
            <a:r>
              <a:rPr lang="en-US" sz="4400" b="0" dirty="0" err="1"/>
              <a:t>customer_unique_id</a:t>
            </a:r>
            <a:r>
              <a:rPr lang="en-US" sz="4400" b="0" dirty="0"/>
              <a:t>, MIN(</a:t>
            </a:r>
            <a:r>
              <a:rPr lang="en-US" sz="4400" b="0" dirty="0" err="1"/>
              <a:t>order_purchase_timestamp</a:t>
            </a:r>
            <a:r>
              <a:rPr lang="en-US" sz="4400" b="0" dirty="0"/>
              <a:t>) AS </a:t>
            </a:r>
            <a:r>
              <a:rPr lang="en-US" sz="4400" b="0" dirty="0" err="1"/>
              <a:t>first_purchase_date</a:t>
            </a:r>
            <a:endParaRPr lang="en-US" sz="4400" b="0" dirty="0"/>
          </a:p>
          <a:p>
            <a:r>
              <a:rPr lang="en-US" sz="4400" b="0" dirty="0"/>
              <a:t> FROM </a:t>
            </a:r>
            <a:r>
              <a:rPr lang="en-US" sz="4400" b="0" dirty="0" err="1"/>
              <a:t>CustomerOrders</a:t>
            </a:r>
            <a:r>
              <a:rPr lang="en-US" sz="4400" b="0" dirty="0"/>
              <a:t> GROUP BY </a:t>
            </a:r>
            <a:r>
              <a:rPr lang="en-US" sz="4400" b="0" dirty="0" err="1"/>
              <a:t>customer_unique_id</a:t>
            </a:r>
            <a:r>
              <a:rPr lang="en-US" sz="4400" b="0" dirty="0"/>
              <a:t> ), </a:t>
            </a:r>
            <a:r>
              <a:rPr lang="en-US" sz="4400" b="0" dirty="0" err="1"/>
              <a:t>RetainedCustomers</a:t>
            </a:r>
            <a:r>
              <a:rPr lang="en-US" sz="4400" b="0" dirty="0"/>
              <a:t> AS (</a:t>
            </a:r>
          </a:p>
          <a:p>
            <a:r>
              <a:rPr lang="en-US" sz="4400" b="0" dirty="0"/>
              <a:t> SELECT DISTINCT T1.customer_unique_id FROM </a:t>
            </a:r>
            <a:r>
              <a:rPr lang="en-US" sz="4400" b="0" dirty="0" err="1"/>
              <a:t>FirstPurchaseDates</a:t>
            </a:r>
            <a:r>
              <a:rPr lang="en-US" sz="4400" b="0" dirty="0"/>
              <a:t> AS T1 JOIN</a:t>
            </a:r>
          </a:p>
          <a:p>
            <a:r>
              <a:rPr lang="en-US" sz="4400" b="0" dirty="0"/>
              <a:t> </a:t>
            </a:r>
            <a:r>
              <a:rPr lang="en-US" sz="4400" b="0" dirty="0" err="1"/>
              <a:t>CustomerOrders</a:t>
            </a:r>
            <a:r>
              <a:rPr lang="en-US" sz="4400" b="0" dirty="0"/>
              <a:t> AS T2 ON T1.customer_unique_id = T2.customer_unique_id</a:t>
            </a:r>
          </a:p>
          <a:p>
            <a:r>
              <a:rPr lang="en-US" sz="4400" b="0" dirty="0"/>
              <a:t> WHERE T2.order_purchase_timestamp &gt; T1.first_purchase_date AND</a:t>
            </a:r>
          </a:p>
          <a:p>
            <a:r>
              <a:rPr lang="en-US" sz="4400" b="0" dirty="0"/>
              <a:t> T2.order_purchase_timestamp &lt;= DATE_ADD(T1.first_purchase_date, INTERVAL 6</a:t>
            </a:r>
          </a:p>
          <a:p>
            <a:r>
              <a:rPr lang="en-US" sz="4400" b="0" dirty="0"/>
              <a:t> MONTH) ) SELECT ( ( SELECT COUNT(*) FROM </a:t>
            </a:r>
            <a:r>
              <a:rPr lang="en-US" sz="4400" b="0" dirty="0" err="1"/>
              <a:t>RetainedCustomers</a:t>
            </a:r>
            <a:r>
              <a:rPr lang="en-US" sz="4400" b="0" dirty="0"/>
              <a:t> ) * 100.0 ) / (</a:t>
            </a:r>
          </a:p>
          <a:p>
            <a:r>
              <a:rPr lang="en-US" sz="4400" b="0" dirty="0"/>
              <a:t> SELECT COUNT(*) FROM </a:t>
            </a:r>
            <a:r>
              <a:rPr lang="en-US" sz="4400" b="0" dirty="0" err="1"/>
              <a:t>FirstPurchaseDates</a:t>
            </a:r>
            <a:r>
              <a:rPr lang="en-US" sz="4400" b="0" dirty="0"/>
              <a:t> ) AS </a:t>
            </a:r>
            <a:r>
              <a:rPr lang="en-US" sz="4400" b="0" dirty="0" err="1"/>
              <a:t>retention_rate_percentage</a:t>
            </a:r>
            <a:r>
              <a:rPr lang="en-US" sz="4400" dirty="0"/>
              <a:t>; </a:t>
            </a:r>
            <a:endParaRPr lang="en-US" sz="4400" b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9" name="Content Placeholder 8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94776A1C-3E29-FCCE-7567-2D315D3DF8B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163" y="5878286"/>
            <a:ext cx="4921250" cy="819150"/>
          </a:xfrm>
        </p:spPr>
      </p:pic>
      <p:pic>
        <p:nvPicPr>
          <p:cNvPr id="24" name="Picture 2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F632C62-44A7-9F81-0483-D59A497556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1531" y="4787620"/>
            <a:ext cx="5724525" cy="1495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55334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30F5D5-E16A-3C17-0040-64D29FAD97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143" y="365126"/>
            <a:ext cx="11506199" cy="823912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5. Identify the top 3 customers who spent the most money in each year.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C162F3-F782-9CF2-4DA0-B414E98991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189038"/>
            <a:ext cx="5157787" cy="3177855"/>
          </a:xfrm>
        </p:spPr>
        <p:txBody>
          <a:bodyPr>
            <a:normAutofit fontScale="47500" lnSpcReduction="20000"/>
          </a:bodyPr>
          <a:lstStyle/>
          <a:p>
            <a:r>
              <a:rPr lang="en-US" sz="23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Python Code :</a:t>
            </a:r>
            <a:br>
              <a: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dirty="0" err="1"/>
              <a:t>orders_df</a:t>
            </a:r>
            <a:r>
              <a:rPr lang="en-US" b="0" dirty="0"/>
              <a:t> = </a:t>
            </a:r>
            <a:r>
              <a:rPr lang="en-US" b="0" dirty="0" err="1"/>
              <a:t>pd.read_csv</a:t>
            </a:r>
            <a:r>
              <a:rPr lang="en-US" b="0" dirty="0"/>
              <a:t>('orders.csv')</a:t>
            </a:r>
          </a:p>
          <a:p>
            <a:r>
              <a:rPr lang="en-US" b="0" dirty="0" err="1"/>
              <a:t>payments_df</a:t>
            </a:r>
            <a:r>
              <a:rPr lang="en-US" b="0" dirty="0"/>
              <a:t> = </a:t>
            </a:r>
            <a:r>
              <a:rPr lang="en-US" b="0" dirty="0" err="1"/>
              <a:t>pd.read_csv</a:t>
            </a:r>
            <a:r>
              <a:rPr lang="en-US" b="0" dirty="0"/>
              <a:t>('payments.csv')</a:t>
            </a:r>
          </a:p>
          <a:p>
            <a:r>
              <a:rPr lang="en-US" b="0" dirty="0" err="1"/>
              <a:t>df_merged</a:t>
            </a:r>
            <a:r>
              <a:rPr lang="en-US" b="0" dirty="0"/>
              <a:t> = </a:t>
            </a:r>
            <a:r>
              <a:rPr lang="en-US" b="0" dirty="0" err="1"/>
              <a:t>pd.merge</a:t>
            </a:r>
            <a:r>
              <a:rPr lang="en-US" b="0" dirty="0"/>
              <a:t>(</a:t>
            </a:r>
            <a:r>
              <a:rPr lang="en-US" b="0" dirty="0" err="1"/>
              <a:t>orders_df</a:t>
            </a:r>
            <a:r>
              <a:rPr lang="en-US" b="0" dirty="0"/>
              <a:t>, </a:t>
            </a:r>
            <a:r>
              <a:rPr lang="en-US" b="0" dirty="0" err="1"/>
              <a:t>payments_df</a:t>
            </a:r>
            <a:r>
              <a:rPr lang="en-US" b="0" dirty="0"/>
              <a:t>, on='</a:t>
            </a:r>
            <a:r>
              <a:rPr lang="en-US" b="0" dirty="0" err="1"/>
              <a:t>order_id</a:t>
            </a:r>
            <a:r>
              <a:rPr lang="en-US" b="0" dirty="0"/>
              <a:t>')</a:t>
            </a:r>
          </a:p>
          <a:p>
            <a:r>
              <a:rPr lang="en-US" b="0" dirty="0" err="1"/>
              <a:t>df_merged</a:t>
            </a:r>
            <a:r>
              <a:rPr lang="en-US" b="0" dirty="0"/>
              <a:t>['</a:t>
            </a:r>
            <a:r>
              <a:rPr lang="en-US" b="0" dirty="0" err="1"/>
              <a:t>order_purchase_timestamp</a:t>
            </a:r>
            <a:r>
              <a:rPr lang="en-US" b="0" dirty="0"/>
              <a:t>'] = </a:t>
            </a:r>
            <a:r>
              <a:rPr lang="en-US" b="0" dirty="0" err="1"/>
              <a:t>pd.to_datetime</a:t>
            </a:r>
            <a:r>
              <a:rPr lang="en-US" b="0" dirty="0"/>
              <a:t>(</a:t>
            </a:r>
            <a:r>
              <a:rPr lang="en-US" b="0" dirty="0" err="1"/>
              <a:t>df_merged</a:t>
            </a:r>
            <a:r>
              <a:rPr lang="en-US" b="0" dirty="0"/>
              <a:t>['</a:t>
            </a:r>
            <a:r>
              <a:rPr lang="en-US" b="0" dirty="0" err="1"/>
              <a:t>order_purchase_timestamp</a:t>
            </a:r>
            <a:r>
              <a:rPr lang="en-US" b="0" dirty="0"/>
              <a:t>'])</a:t>
            </a:r>
          </a:p>
          <a:p>
            <a:r>
              <a:rPr lang="en-US" b="0" dirty="0" err="1"/>
              <a:t>df_merged</a:t>
            </a:r>
            <a:r>
              <a:rPr lang="en-US" b="0" dirty="0"/>
              <a:t>['year'] = </a:t>
            </a:r>
            <a:r>
              <a:rPr lang="en-US" b="0" dirty="0" err="1"/>
              <a:t>df_merged</a:t>
            </a:r>
            <a:r>
              <a:rPr lang="en-US" b="0" dirty="0"/>
              <a:t>['</a:t>
            </a:r>
            <a:r>
              <a:rPr lang="en-US" b="0" dirty="0" err="1"/>
              <a:t>order_purchase_timestamp</a:t>
            </a:r>
            <a:r>
              <a:rPr lang="en-US" b="0" dirty="0"/>
              <a:t>'].</a:t>
            </a:r>
            <a:r>
              <a:rPr lang="en-US" b="0" dirty="0" err="1"/>
              <a:t>dt.year</a:t>
            </a:r>
            <a:endParaRPr lang="en-US" b="0" dirty="0"/>
          </a:p>
          <a:p>
            <a:r>
              <a:rPr lang="en-US" b="0" dirty="0" err="1"/>
              <a:t>customer_yearly_spend</a:t>
            </a:r>
            <a:r>
              <a:rPr lang="en-US" b="0" dirty="0"/>
              <a:t> = </a:t>
            </a:r>
            <a:r>
              <a:rPr lang="en-US" b="0" dirty="0" err="1"/>
              <a:t>df_merged.groupby</a:t>
            </a:r>
            <a:r>
              <a:rPr lang="en-US" b="0" dirty="0"/>
              <a:t>(['</a:t>
            </a:r>
            <a:r>
              <a:rPr lang="en-US" b="0" dirty="0" err="1"/>
              <a:t>customer_id</a:t>
            </a:r>
            <a:r>
              <a:rPr lang="en-US" b="0" dirty="0"/>
              <a:t>', 'year'])['</a:t>
            </a:r>
            <a:r>
              <a:rPr lang="en-US" b="0" dirty="0" err="1"/>
              <a:t>payment_value</a:t>
            </a:r>
            <a:r>
              <a:rPr lang="en-US" b="0" dirty="0"/>
              <a:t>'].sum().</a:t>
            </a:r>
            <a:r>
              <a:rPr lang="en-US" b="0" dirty="0" err="1"/>
              <a:t>reset_index</a:t>
            </a:r>
            <a:r>
              <a:rPr lang="en-US" b="0" dirty="0"/>
              <a:t>()</a:t>
            </a:r>
          </a:p>
          <a:p>
            <a:r>
              <a:rPr lang="en-US" b="0" dirty="0" err="1"/>
              <a:t>customer_yearly_spend.columns</a:t>
            </a:r>
            <a:r>
              <a:rPr lang="en-US" b="0" dirty="0"/>
              <a:t> = ['</a:t>
            </a:r>
            <a:r>
              <a:rPr lang="en-US" b="0" dirty="0" err="1"/>
              <a:t>customer_id</a:t>
            </a:r>
            <a:r>
              <a:rPr lang="en-US" b="0" dirty="0"/>
              <a:t>', 'year', '</a:t>
            </a:r>
            <a:r>
              <a:rPr lang="en-US" b="0" dirty="0" err="1"/>
              <a:t>total_spend</a:t>
            </a:r>
            <a:r>
              <a:rPr lang="en-US" b="0" dirty="0"/>
              <a:t>']</a:t>
            </a:r>
          </a:p>
          <a:p>
            <a:r>
              <a:rPr lang="en-US" b="0" dirty="0" err="1"/>
              <a:t>top_customers_by_year</a:t>
            </a:r>
            <a:r>
              <a:rPr lang="en-US" b="0" dirty="0"/>
              <a:t> = </a:t>
            </a:r>
            <a:r>
              <a:rPr lang="en-US" b="0" dirty="0" err="1"/>
              <a:t>customer_yearly_spend.groupby</a:t>
            </a:r>
            <a:r>
              <a:rPr lang="en-US" b="0" dirty="0"/>
              <a:t>('year').apply(lambda x:</a:t>
            </a:r>
          </a:p>
          <a:p>
            <a:r>
              <a:rPr lang="en-US" b="0" dirty="0"/>
              <a:t> </a:t>
            </a:r>
            <a:r>
              <a:rPr lang="en-US" b="0" dirty="0" err="1"/>
              <a:t>x.sort_values</a:t>
            </a:r>
            <a:r>
              <a:rPr lang="en-US" b="0" dirty="0"/>
              <a:t>(by='</a:t>
            </a:r>
            <a:r>
              <a:rPr lang="en-US" b="0" dirty="0" err="1"/>
              <a:t>total_spend</a:t>
            </a:r>
            <a:r>
              <a:rPr lang="en-US" b="0" dirty="0"/>
              <a:t>', ascending=False).head(3)).</a:t>
            </a:r>
            <a:r>
              <a:rPr lang="en-US" b="0" dirty="0" err="1"/>
              <a:t>reset_index</a:t>
            </a:r>
            <a:r>
              <a:rPr lang="en-US" b="0" dirty="0"/>
              <a:t>(drop=True)</a:t>
            </a:r>
          </a:p>
          <a:p>
            <a:r>
              <a:rPr lang="en-US" b="0" dirty="0"/>
              <a:t>print("Top 3 customers by total spend for each year:")</a:t>
            </a:r>
          </a:p>
          <a:p>
            <a:r>
              <a:rPr lang="en-US" b="0" dirty="0"/>
              <a:t>print(</a:t>
            </a:r>
            <a:r>
              <a:rPr lang="en-US" b="0" dirty="0" err="1"/>
              <a:t>top_customers_by_year</a:t>
            </a:r>
            <a:r>
              <a:rPr lang="en-US" b="0" dirty="0"/>
              <a:t>)</a:t>
            </a:r>
          </a:p>
          <a:p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8" name="Content Placeholder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E571DB3-6B09-569C-D59E-083EF6E611D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612" y="4366894"/>
            <a:ext cx="4610100" cy="2125980"/>
          </a:xfr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57E5330-E0A3-002B-0CC8-25DED38422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523999"/>
            <a:ext cx="5183188" cy="3233057"/>
          </a:xfrm>
        </p:spPr>
        <p:txBody>
          <a:bodyPr>
            <a:noAutofit/>
          </a:bodyPr>
          <a:lstStyle/>
          <a:p>
            <a:r>
              <a: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SQL Code :</a:t>
            </a:r>
          </a:p>
          <a:p>
            <a:r>
              <a:rPr lang="en-US" sz="11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WITH </a:t>
            </a:r>
            <a:r>
              <a:rPr lang="en-US" sz="11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CustomerOrderSpending</a:t>
            </a:r>
            <a:r>
              <a:rPr lang="en-US" sz="11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AS ( SELECT T1.order_id, SUM(T1.payment_value) AS</a:t>
            </a:r>
          </a:p>
          <a:p>
            <a:r>
              <a:rPr lang="en-US" sz="11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1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order_value</a:t>
            </a:r>
            <a:r>
              <a:rPr lang="en-US" sz="11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FROM payments AS T1 GROUP BY T1.order_id ), </a:t>
            </a:r>
            <a:r>
              <a:rPr lang="en-US" sz="11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CustomerAnnualSpending</a:t>
            </a:r>
            <a:endParaRPr lang="en-US" sz="1100" b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1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AS ( SELECT YEAR(T2.order_purchase_timestamp) AS </a:t>
            </a:r>
            <a:r>
              <a:rPr lang="en-US" sz="11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order_year</a:t>
            </a:r>
            <a:r>
              <a:rPr lang="en-US" sz="11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</a:p>
          <a:p>
            <a:r>
              <a:rPr lang="en-US" sz="11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T3.customer_unique_id, SUM(T1.order_value) AS </a:t>
            </a:r>
            <a:r>
              <a:rPr lang="en-US" sz="11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total_spent</a:t>
            </a:r>
            <a:r>
              <a:rPr lang="en-US" sz="11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FROM</a:t>
            </a:r>
          </a:p>
          <a:p>
            <a:r>
              <a:rPr lang="en-US" sz="11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1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CustomerOrderSpending</a:t>
            </a:r>
            <a:r>
              <a:rPr lang="en-US" sz="11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AS T1 JOIN orders AS T2 ON T1.order_id = T2.order_id JOIN</a:t>
            </a:r>
          </a:p>
          <a:p>
            <a:r>
              <a:rPr lang="en-US" sz="11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Customers AS T3 ON T2.customer_id = T3.customer_id GROUP BY </a:t>
            </a:r>
            <a:r>
              <a:rPr lang="en-US" sz="11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order_year</a:t>
            </a:r>
            <a:r>
              <a:rPr lang="en-US" sz="11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</a:p>
          <a:p>
            <a:r>
              <a:rPr lang="en-US" sz="11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T3.customer_unique_id ), </a:t>
            </a:r>
            <a:r>
              <a:rPr lang="en-US" sz="11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RankedCustomers</a:t>
            </a:r>
            <a:r>
              <a:rPr lang="en-US" sz="11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AS ( SELECT </a:t>
            </a:r>
            <a:r>
              <a:rPr lang="en-US" sz="11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order_year</a:t>
            </a:r>
            <a:r>
              <a:rPr lang="en-US" sz="11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</a:p>
          <a:p>
            <a:r>
              <a:rPr lang="en-US" sz="11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1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customer_unique_id</a:t>
            </a:r>
            <a:r>
              <a:rPr lang="en-US" sz="11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1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total_spent</a:t>
            </a:r>
            <a:r>
              <a:rPr lang="en-US" sz="11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RANK() OVER ( PARTITION BY </a:t>
            </a:r>
            <a:r>
              <a:rPr lang="en-US" sz="11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order_year</a:t>
            </a:r>
            <a:r>
              <a:rPr lang="en-US" sz="11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ORDER BY</a:t>
            </a:r>
          </a:p>
          <a:p>
            <a:r>
              <a:rPr lang="en-US" sz="11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1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total_spent</a:t>
            </a:r>
            <a:r>
              <a:rPr lang="en-US" sz="11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DESC ) AS </a:t>
            </a:r>
            <a:r>
              <a:rPr lang="en-US" sz="11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customer_rank</a:t>
            </a:r>
            <a:r>
              <a:rPr lang="en-US" sz="11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FROM </a:t>
            </a:r>
            <a:r>
              <a:rPr lang="en-US" sz="11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CustomerAnnualSpending</a:t>
            </a:r>
            <a:r>
              <a:rPr lang="en-US" sz="11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) SELECT</a:t>
            </a:r>
          </a:p>
          <a:p>
            <a:r>
              <a:rPr lang="en-US" sz="11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1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order_year</a:t>
            </a:r>
            <a:r>
              <a:rPr lang="en-US" sz="11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1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customer_unique_id</a:t>
            </a:r>
            <a:r>
              <a:rPr lang="en-US" sz="11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1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total_spent</a:t>
            </a:r>
            <a:r>
              <a:rPr lang="en-US" sz="11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1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customer_rank</a:t>
            </a:r>
            <a:r>
              <a:rPr lang="en-US" sz="11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FROM </a:t>
            </a:r>
            <a:r>
              <a:rPr lang="en-US" sz="11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RankedCustomers</a:t>
            </a:r>
            <a:endParaRPr lang="en-US" sz="1100" b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1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WHERE </a:t>
            </a:r>
            <a:r>
              <a:rPr lang="en-US" sz="11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customer_rank</a:t>
            </a:r>
            <a:r>
              <a:rPr lang="en-US" sz="11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&lt;= 3 ORDER BY </a:t>
            </a:r>
            <a:r>
              <a:rPr lang="en-US" sz="11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order_year</a:t>
            </a:r>
            <a:r>
              <a:rPr lang="en-US" sz="11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1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customer_rank</a:t>
            </a:r>
            <a:endParaRPr lang="en-US" sz="1100" b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" name="Content Placeholder 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B6924F6-086E-5C0A-6C80-318EF8A989A3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9568" y="4931704"/>
            <a:ext cx="4655820" cy="1561170"/>
          </a:xfrm>
        </p:spPr>
      </p:pic>
    </p:spTree>
    <p:extLst>
      <p:ext uri="{BB962C8B-B14F-4D97-AF65-F5344CB8AC3E}">
        <p14:creationId xmlns:p14="http://schemas.microsoft.com/office/powerpoint/2010/main" val="36073657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2850CE99-C369-4E00-22BA-DE355B3A45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52401"/>
            <a:ext cx="9144000" cy="794656"/>
          </a:xfrm>
        </p:spPr>
        <p:txBody>
          <a:bodyPr>
            <a:noAutofit/>
          </a:bodyPr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Recommendations</a:t>
            </a:r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A022DF1C-B599-3773-3021-5F37860E15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88571" y="774699"/>
            <a:ext cx="10297886" cy="5930899"/>
          </a:xfrm>
        </p:spPr>
        <p:txBody>
          <a:bodyPr>
            <a:noAutofit/>
          </a:bodyPr>
          <a:lstStyle/>
          <a:p>
            <a:pPr algn="l"/>
            <a:r>
              <a:rPr lang="en-US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Customer Retention:</a:t>
            </a:r>
          </a:p>
          <a:p>
            <a:pPr algn="l"/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Introduce loyalty programs, subscription discounts, or cashback to improve repeat purchase rate.</a:t>
            </a:r>
          </a:p>
          <a:p>
            <a:pPr algn="l"/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Personalized product recommendations (using past purchase data) could increase retention.</a:t>
            </a:r>
          </a:p>
          <a:p>
            <a:pPr algn="l"/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US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Geographic Expansion:</a:t>
            </a:r>
          </a:p>
          <a:p>
            <a:pPr algn="l"/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Focus marketing on SP, RJ, MG since they contribute the bulk of sales.</a:t>
            </a:r>
          </a:p>
          <a:p>
            <a:pPr algn="l"/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But also design growth campaigns in RS, PR, SC where customer base is decent, but sales are relatively lower → untapped potential.</a:t>
            </a:r>
          </a:p>
          <a:p>
            <a:pPr algn="l"/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US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Product Strategy:</a:t>
            </a:r>
          </a:p>
          <a:p>
            <a:pPr algn="l"/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Push top categories (Health &amp; Beauty, Watches, Bed/Bath) with targeted ads.</a:t>
            </a:r>
          </a:p>
          <a:p>
            <a:pPr algn="l"/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Bundle high-margin but less frequent categories (like electronics, computer accessories) with popular categories.</a:t>
            </a:r>
          </a:p>
          <a:p>
            <a:pPr algn="l"/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US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Payment Optimization:</a:t>
            </a:r>
          </a:p>
          <a:p>
            <a:pPr algn="l"/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Since ~50% of payments are installment-based, offering more flexible EMI options could drive higher order values.</a:t>
            </a:r>
          </a:p>
          <a:p>
            <a:pPr algn="l"/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Partnerships with banks/fintech's can reduce payment friction.</a:t>
            </a:r>
          </a:p>
          <a:p>
            <a:pPr algn="l"/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US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Seller Network:</a:t>
            </a:r>
          </a:p>
          <a:p>
            <a:pPr algn="l"/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Dependency is high on a few sellers. Encourage new seller onboarding from underrepresented states (e.g., Northern Brazil) to diversify.</a:t>
            </a:r>
          </a:p>
          <a:p>
            <a:pPr algn="l"/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Provide seller analytics dashboards to improve their sales performance.</a:t>
            </a:r>
          </a:p>
        </p:txBody>
      </p:sp>
    </p:spTree>
    <p:extLst>
      <p:ext uri="{BB962C8B-B14F-4D97-AF65-F5344CB8AC3E}">
        <p14:creationId xmlns:p14="http://schemas.microsoft.com/office/powerpoint/2010/main" val="35106035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429536BE-796E-43E9-D5FD-1938D34933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72141"/>
            <a:ext cx="9144000" cy="871868"/>
          </a:xfrm>
        </p:spPr>
        <p:txBody>
          <a:bodyPr>
            <a:noAutofit/>
          </a:bodyPr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Conclusion</a:t>
            </a:r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EE563AB4-E41B-CE26-C281-F0DC711F04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81743" y="1616149"/>
            <a:ext cx="10515600" cy="3870251"/>
          </a:xfrm>
        </p:spPr>
        <p:txBody>
          <a:bodyPr>
            <a:noAutofit/>
          </a:bodyPr>
          <a:lstStyle/>
          <a:p>
            <a:pPr algn="l"/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business shows strong YoY growth (20% in 2018) and a wide customer reach (4,119 cities) but suffers from very low customer retention (0%). Sales are highly concentrated in SP state and a few top sellers, which creates risk. To ensure long-term sustainability, the company should:</a:t>
            </a:r>
          </a:p>
          <a:p>
            <a:pPr algn="l"/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Build loyalty programs</a:t>
            </a:r>
          </a:p>
          <a:p>
            <a:pPr algn="l"/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Expand beyond SP into secondary states</a:t>
            </a:r>
          </a:p>
          <a:p>
            <a:pPr algn="l"/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Diversify seller &amp; product portfolio.</a:t>
            </a:r>
          </a:p>
          <a:p>
            <a:pPr algn="l"/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With these steps, the platform can convert its large new customer base into repeat loyal buyers, ensuring sustainable revenue growth.</a:t>
            </a:r>
          </a:p>
        </p:txBody>
      </p:sp>
    </p:spTree>
    <p:extLst>
      <p:ext uri="{BB962C8B-B14F-4D97-AF65-F5344CB8AC3E}">
        <p14:creationId xmlns:p14="http://schemas.microsoft.com/office/powerpoint/2010/main" val="42617287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726</TotalTime>
  <Words>4177</Words>
  <Application>Microsoft Office PowerPoint</Application>
  <PresentationFormat>Widescreen</PresentationFormat>
  <Paragraphs>248</Paragraphs>
  <Slides>22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Aptos</vt:lpstr>
      <vt:lpstr>Aptos Display</vt:lpstr>
      <vt:lpstr>Arial</vt:lpstr>
      <vt:lpstr>Calibri</vt:lpstr>
      <vt:lpstr>Office Theme</vt:lpstr>
      <vt:lpstr>     E-commerce  Sales Performance Analysis using PYTHON and SQL</vt:lpstr>
      <vt:lpstr>Introduction</vt:lpstr>
      <vt:lpstr>PowerPoint Presentation</vt:lpstr>
      <vt:lpstr>1. List all unique cities where customers are located.</vt:lpstr>
      <vt:lpstr>2. Count the number of orders placed in 2017. </vt:lpstr>
      <vt:lpstr>3. Find the total sales per category.</vt:lpstr>
      <vt:lpstr>4. Calculate the percentage of orders that were paid in installments.</vt:lpstr>
      <vt:lpstr>5. Count the number of customers from each state. </vt:lpstr>
      <vt:lpstr>PowerPoint Presentation</vt:lpstr>
      <vt:lpstr>1. Calculate the number of orders per month in 2018.</vt:lpstr>
      <vt:lpstr>2. Find the average number of products per order. grouped by customer city. </vt:lpstr>
      <vt:lpstr>3. Calculate the percentage of total revenue contributed by each product category. </vt:lpstr>
      <vt:lpstr>4. Identify the correlation between product price and the number of times a product has been purchased. </vt:lpstr>
      <vt:lpstr>5. Calculate the total revenue generated by each seller and rank them by revenue. </vt:lpstr>
      <vt:lpstr>ADVANCED PROBLEMS</vt:lpstr>
      <vt:lpstr>1. Calculate the moving average of order values for each customer over their order history. </vt:lpstr>
      <vt:lpstr>2. Calculate the cumulative sales per month for each year.</vt:lpstr>
      <vt:lpstr>3. Calculate the year-over-year growth rate of total sales. </vt:lpstr>
      <vt:lpstr>4. Calculate the retention rate of customers, defined as the percentage of customers who make another purchase within 6 months of their first purchase. </vt:lpstr>
      <vt:lpstr>5. Identify the top 3 customers who spent the most money in each year.</vt:lpstr>
      <vt:lpstr>Recommendations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Inguri, Navyasri</dc:creator>
  <cp:lastModifiedBy>Inguri, Navyasri</cp:lastModifiedBy>
  <cp:revision>12</cp:revision>
  <dcterms:created xsi:type="dcterms:W3CDTF">2025-08-29T10:33:25Z</dcterms:created>
  <dcterms:modified xsi:type="dcterms:W3CDTF">2025-11-11T16:40:01Z</dcterms:modified>
</cp:coreProperties>
</file>